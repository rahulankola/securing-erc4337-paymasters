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58" r:id="rId5"/>
    <p:sldId id="259" r:id="rId6"/>
    <p:sldId id="272" r:id="rId7"/>
    <p:sldId id="262" r:id="rId8"/>
    <p:sldId id="270" r:id="rId9"/>
    <p:sldId id="271" r:id="rId10"/>
    <p:sldId id="264" r:id="rId11"/>
    <p:sldId id="268" r:id="rId12"/>
    <p:sldId id="267" r:id="rId13"/>
    <p:sldId id="274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B5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7"/>
    <p:restoredTop sz="96983"/>
  </p:normalViewPr>
  <p:slideViewPr>
    <p:cSldViewPr snapToGrid="0" snapToObjects="1">
      <p:cViewPr varScale="1">
        <p:scale>
          <a:sx n="202" d="100"/>
          <a:sy n="202" d="100"/>
        </p:scale>
        <p:origin x="13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8505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operation -&gt; bundler processes multiple operations -&gt; </a:t>
            </a:r>
            <a:r>
              <a:rPr lang="en-US" dirty="0" err="1"/>
              <a:t>entrypoint</a:t>
            </a:r>
            <a:r>
              <a:rPr lang="en-US" dirty="0"/>
              <a:t> invoked -&gt; validates and calls paymaster -&gt; executes -&gt; postop: gas costs settled</a:t>
            </a:r>
            <a:br>
              <a:rPr lang="en-US" dirty="0"/>
            </a:br>
            <a:r>
              <a:rPr lang="en-US" dirty="0"/>
              <a:t>COMPONENTS: User operation, Bundler ,</a:t>
            </a:r>
            <a:r>
              <a:rPr lang="en-US" dirty="0" err="1"/>
              <a:t>Entrypoint</a:t>
            </a:r>
            <a:r>
              <a:rPr lang="en-US" dirty="0"/>
              <a:t>, smart wallet, paymaster,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hyperlink" Target="https://www.calibraint.com/blog/erc-4337-account-abstraction-development?utm_source=chatgpt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lchemy.com/blog/erc-4337-useroperation-packing-vulnerability?utm_source=chatgpt.com" TargetMode="External"/><Relationship Id="rId5" Type="http://schemas.openxmlformats.org/officeDocument/2006/relationships/image" Target="../media/image23.png"/><Relationship Id="rId4" Type="http://schemas.openxmlformats.org/officeDocument/2006/relationships/hyperlink" Target="https://arxiv.org/pdf/2309.00448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14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895145"/>
            <a:ext cx="6429375" cy="132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353" b="1" kern="0" spc="-2" dirty="0">
                <a:solidFill>
                  <a:srgbClr val="111111"/>
                </a:solidFill>
              </a:rPr>
              <a:t>Securing ERC-4337 Paymasters</a:t>
            </a:r>
            <a:endParaRPr lang="en-US" sz="4353" dirty="0"/>
          </a:p>
        </p:txBody>
      </p:sp>
      <p:sp>
        <p:nvSpPr>
          <p:cNvPr id="4" name="Text 1"/>
          <p:cNvSpPr/>
          <p:nvPr/>
        </p:nvSpPr>
        <p:spPr>
          <a:xfrm>
            <a:off x="1000125" y="2429601"/>
            <a:ext cx="57150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4" dirty="0">
                <a:solidFill>
                  <a:srgbClr val="444444"/>
                </a:solidFill>
              </a:rPr>
              <a:t>A Defense Framework Against Abuse and Deposit Drain Attacks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1000125" y="3498261"/>
            <a:ext cx="2567927" cy="7500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00125" y="3498261"/>
            <a:ext cx="28575" cy="750094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725" y="3700072"/>
            <a:ext cx="142875" cy="114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57325" y="3669711"/>
            <a:ext cx="6637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</a:rPr>
              <a:t>Presenter: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2070435" y="3667088"/>
            <a:ext cx="958596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Rahulkumar Ankola</a:t>
            </a:r>
            <a:endParaRPr lang="en-US" sz="94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25" y="3932244"/>
            <a:ext cx="100013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57325" y="3906099"/>
            <a:ext cx="3412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44444"/>
                </a:solidFill>
              </a:rPr>
              <a:t>Date: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2070435" y="3901883"/>
            <a:ext cx="86938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February 2026</a:t>
            </a:r>
            <a:endParaRPr lang="en-US" sz="942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51DF3D-03F1-E7F4-6AA1-5132A302C7F5}"/>
              </a:ext>
            </a:extLst>
          </p:cNvPr>
          <p:cNvSpPr txBox="1"/>
          <p:nvPr/>
        </p:nvSpPr>
        <p:spPr>
          <a:xfrm>
            <a:off x="8661197" y="4889584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998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10501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464469"/>
            <a:ext cx="8001000" cy="1428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The Foundation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71500" y="662583"/>
            <a:ext cx="800100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What is ERC-4337 and Paymasters?</a:t>
            </a:r>
            <a:endParaRPr lang="en-US" sz="2862" dirty="0"/>
          </a:p>
        </p:txBody>
      </p:sp>
      <p:sp>
        <p:nvSpPr>
          <p:cNvPr id="7" name="Shape 4"/>
          <p:cNvSpPr/>
          <p:nvPr/>
        </p:nvSpPr>
        <p:spPr>
          <a:xfrm>
            <a:off x="571500" y="1635919"/>
            <a:ext cx="3786188" cy="2692412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1500" y="1635919"/>
            <a:ext cx="3771900" cy="4286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871663"/>
            <a:ext cx="342900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2950" y="2444948"/>
            <a:ext cx="34432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111"/>
                </a:solidFill>
              </a:rPr>
              <a:t>ERC-4337</a:t>
            </a:r>
            <a:endParaRPr lang="en-US" sz="1602" dirty="0"/>
          </a:p>
        </p:txBody>
      </p:sp>
      <p:sp>
        <p:nvSpPr>
          <p:cNvPr id="11" name="Text 7"/>
          <p:cNvSpPr/>
          <p:nvPr/>
        </p:nvSpPr>
        <p:spPr>
          <a:xfrm>
            <a:off x="742950" y="2792027"/>
            <a:ext cx="3443288" cy="1436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An Ethereum standard for Account Abstraction</a:t>
            </a:r>
          </a:p>
          <a:p>
            <a: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Removes the need for traditional EOAs (Externally Owned Accounts)</a:t>
            </a:r>
          </a:p>
          <a:p>
            <a: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Indroduces</a:t>
            </a:r>
            <a:r>
              <a:rPr lang="en-US" sz="1400" dirty="0"/>
              <a:t> smart contract wallets</a:t>
            </a:r>
          </a:p>
          <a:p>
            <a: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Enables features like: Gas sponsorship, social recovery, custom signature schemes</a:t>
            </a:r>
          </a:p>
        </p:txBody>
      </p:sp>
      <p:sp>
        <p:nvSpPr>
          <p:cNvPr id="13" name="Text 8"/>
          <p:cNvSpPr/>
          <p:nvPr/>
        </p:nvSpPr>
        <p:spPr>
          <a:xfrm>
            <a:off x="928688" y="3660391"/>
            <a:ext cx="65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15" name="Text 9"/>
          <p:cNvSpPr/>
          <p:nvPr/>
        </p:nvSpPr>
        <p:spPr>
          <a:xfrm>
            <a:off x="928688" y="3901492"/>
            <a:ext cx="65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16" name="Shape 10"/>
          <p:cNvSpPr/>
          <p:nvPr/>
        </p:nvSpPr>
        <p:spPr>
          <a:xfrm>
            <a:off x="4786313" y="1635919"/>
            <a:ext cx="3786188" cy="2678125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4786313" y="1635919"/>
            <a:ext cx="3771900" cy="42863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763" y="1871663"/>
            <a:ext cx="342900" cy="3429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57763" y="2444948"/>
            <a:ext cx="34432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111"/>
                </a:solidFill>
              </a:rPr>
              <a:t>Paymasters</a:t>
            </a:r>
            <a:endParaRPr lang="en-US" sz="1602" dirty="0"/>
          </a:p>
        </p:txBody>
      </p:sp>
      <p:sp>
        <p:nvSpPr>
          <p:cNvPr id="20" name="Text 13"/>
          <p:cNvSpPr/>
          <p:nvPr/>
        </p:nvSpPr>
        <p:spPr>
          <a:xfrm>
            <a:off x="4957763" y="2900363"/>
            <a:ext cx="3443288" cy="122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A smart contract that pays gas fees on behalf of users.</a:t>
            </a:r>
          </a:p>
          <a:p>
            <a: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Validates transaction before execution</a:t>
            </a:r>
          </a:p>
          <a:p>
            <a: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Settle gas costs with bundler after execution.</a:t>
            </a:r>
          </a:p>
          <a:p>
            <a: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Enables features like: Gasless transactions, Pay with ERC-20 tokens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5143500" y="3660391"/>
            <a:ext cx="65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24" name="Text 15"/>
          <p:cNvSpPr/>
          <p:nvPr/>
        </p:nvSpPr>
        <p:spPr>
          <a:xfrm>
            <a:off x="5143500" y="3901492"/>
            <a:ext cx="65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25" name="Shape 16"/>
          <p:cNvSpPr/>
          <p:nvPr/>
        </p:nvSpPr>
        <p:spPr>
          <a:xfrm>
            <a:off x="571500" y="4428344"/>
            <a:ext cx="8001000" cy="31432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7"/>
          <p:cNvSpPr/>
          <p:nvPr/>
        </p:nvSpPr>
        <p:spPr>
          <a:xfrm>
            <a:off x="1014887" y="4517641"/>
            <a:ext cx="3098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FFFF"/>
                </a:solidFill>
              </a:rPr>
              <a:t>User</a:t>
            </a:r>
            <a:endParaRPr lang="en-US" sz="683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0099" y="4514069"/>
            <a:ext cx="103584" cy="142875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859007" y="4517641"/>
            <a:ext cx="7870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FFFF"/>
                </a:solidFill>
              </a:rPr>
              <a:t>EntryPoint</a:t>
            </a:r>
            <a:endParaRPr lang="en-US" sz="683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399" y="4514069"/>
            <a:ext cx="103584" cy="14287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180307" y="4517641"/>
            <a:ext cx="7101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6366F1"/>
                </a:solidFill>
              </a:rPr>
              <a:t>Paymaster</a:t>
            </a:r>
            <a:endParaRPr lang="en-US" sz="683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5792" y="4514069"/>
            <a:ext cx="103584" cy="142875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424700" y="4517641"/>
            <a:ext cx="70438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FFFF"/>
                </a:solidFill>
              </a:rPr>
              <a:t>Execution</a:t>
            </a:r>
            <a:endParaRPr lang="en-US" sz="683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FDD35C-7C8F-AED8-70E9-A3A49B7E20F0}"/>
              </a:ext>
            </a:extLst>
          </p:cNvPr>
          <p:cNvSpPr txBox="1"/>
          <p:nvPr/>
        </p:nvSpPr>
        <p:spPr>
          <a:xfrm>
            <a:off x="8661197" y="4889584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>
                <a:solidFill>
                  <a:srgbClr val="A5B5FD"/>
                </a:solidFill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10215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435894"/>
            <a:ext cx="8001000" cy="1428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Deployment Context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71500" y="662583"/>
            <a:ext cx="3728970" cy="4623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Where is ERC4337 used?</a:t>
            </a:r>
            <a:endParaRPr lang="en-US" sz="2862" dirty="0"/>
          </a:p>
        </p:txBody>
      </p:sp>
      <p:sp>
        <p:nvSpPr>
          <p:cNvPr id="7" name="Text 4"/>
          <p:cNvSpPr/>
          <p:nvPr/>
        </p:nvSpPr>
        <p:spPr>
          <a:xfrm>
            <a:off x="571500" y="1628775"/>
            <a:ext cx="10337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888888"/>
                </a:solidFill>
              </a:rPr>
              <a:t>Active Networks: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1733810" y="1578769"/>
            <a:ext cx="765470" cy="235744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733810" y="1578769"/>
            <a:ext cx="765470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888888"/>
                </a:solidFill>
              </a:rPr>
              <a:t>Ethereum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2613580" y="1578769"/>
            <a:ext cx="749564" cy="235744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613580" y="1578769"/>
            <a:ext cx="749564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888888"/>
                </a:solidFill>
              </a:rPr>
              <a:t>Arbitrum</a:t>
            </a: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3477444" y="1578769"/>
            <a:ext cx="741276" cy="235744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77444" y="1578769"/>
            <a:ext cx="741276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888888"/>
                </a:solidFill>
              </a:rPr>
              <a:t>Optimism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4333019" y="1578769"/>
            <a:ext cx="705306" cy="235744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33019" y="1578769"/>
            <a:ext cx="705306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888888"/>
                </a:solidFill>
              </a:rPr>
              <a:t>Polygon</a:t>
            </a:r>
            <a:endParaRPr lang="en-US" sz="727" dirty="0"/>
          </a:p>
        </p:txBody>
      </p:sp>
      <p:sp>
        <p:nvSpPr>
          <p:cNvPr id="16" name="Shape 13"/>
          <p:cNvSpPr/>
          <p:nvPr/>
        </p:nvSpPr>
        <p:spPr>
          <a:xfrm>
            <a:off x="5152625" y="1578769"/>
            <a:ext cx="453768" cy="235744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152625" y="1578769"/>
            <a:ext cx="453768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888888"/>
                </a:solidFill>
              </a:rPr>
              <a:t>Base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571500" y="1943100"/>
            <a:ext cx="2552691" cy="2689622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1500" y="1943100"/>
            <a:ext cx="2538375" cy="2857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162770"/>
            <a:ext cx="321469" cy="25717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2950" y="2578894"/>
            <a:ext cx="22097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Web3 Gaming</a:t>
            </a:r>
            <a:endParaRPr lang="en-US" sz="1193" dirty="0"/>
          </a:p>
        </p:txBody>
      </p:sp>
      <p:sp>
        <p:nvSpPr>
          <p:cNvPr id="22" name="Text 18"/>
          <p:cNvSpPr/>
          <p:nvPr/>
        </p:nvSpPr>
        <p:spPr>
          <a:xfrm>
            <a:off x="742950" y="2898577"/>
            <a:ext cx="2209791" cy="142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Sponsors millions of micro-transactions to enable seamless gameplay without wallet friction.</a:t>
            </a:r>
            <a:br>
              <a:rPr lang="en-US" sz="1000" dirty="0">
                <a:solidFill>
                  <a:srgbClr val="444444"/>
                </a:solidFill>
              </a:rPr>
            </a:br>
            <a:endParaRPr lang="en-US" sz="1000" dirty="0">
              <a:solidFill>
                <a:srgbClr val="444444"/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Examples: </a:t>
            </a:r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44444"/>
                </a:solidFill>
              </a:rPr>
              <a:t>Immutable</a:t>
            </a:r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44444"/>
                </a:solidFill>
              </a:rPr>
              <a:t>Sequence</a:t>
            </a:r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44444"/>
                </a:solidFill>
              </a:rPr>
              <a:t>Gods Unchained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828675" y="4055864"/>
            <a:ext cx="65" cy="97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endParaRPr lang="en-US" sz="621" dirty="0"/>
          </a:p>
        </p:txBody>
      </p:sp>
      <p:sp>
        <p:nvSpPr>
          <p:cNvPr id="26" name="Text 22"/>
          <p:cNvSpPr/>
          <p:nvPr/>
        </p:nvSpPr>
        <p:spPr>
          <a:xfrm>
            <a:off x="828675" y="4200525"/>
            <a:ext cx="6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885" dirty="0"/>
          </a:p>
        </p:txBody>
      </p:sp>
      <p:sp>
        <p:nvSpPr>
          <p:cNvPr id="27" name="Shape 23"/>
          <p:cNvSpPr/>
          <p:nvPr/>
        </p:nvSpPr>
        <p:spPr>
          <a:xfrm>
            <a:off x="3295641" y="1943100"/>
            <a:ext cx="2552691" cy="2689622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24"/>
          <p:cNvSpPr/>
          <p:nvPr/>
        </p:nvSpPr>
        <p:spPr>
          <a:xfrm>
            <a:off x="3295641" y="1943100"/>
            <a:ext cx="2538375" cy="2857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091" y="2162770"/>
            <a:ext cx="257175" cy="25717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467091" y="2578894"/>
            <a:ext cx="22097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DeFi Protocols</a:t>
            </a:r>
            <a:endParaRPr lang="en-US" sz="1193" dirty="0"/>
          </a:p>
        </p:txBody>
      </p:sp>
      <p:sp>
        <p:nvSpPr>
          <p:cNvPr id="31" name="Text 26"/>
          <p:cNvSpPr/>
          <p:nvPr/>
        </p:nvSpPr>
        <p:spPr>
          <a:xfrm>
            <a:off x="3467091" y="2898577"/>
            <a:ext cx="2209791" cy="1240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Enables complex multi-step operations and token-based gas payments for traders.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1000" dirty="0">
              <a:solidFill>
                <a:srgbClr val="444444"/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/>
              <a:t>Examples: </a:t>
            </a:r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Safe</a:t>
            </a:r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 err="1"/>
              <a:t>Instadapp</a:t>
            </a:r>
            <a:endParaRPr lang="en-US" sz="1000" dirty="0"/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 err="1"/>
              <a:t>Biconomy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3552816" y="4055864"/>
            <a:ext cx="65" cy="97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endParaRPr lang="en-US" sz="621" dirty="0"/>
          </a:p>
        </p:txBody>
      </p:sp>
      <p:sp>
        <p:nvSpPr>
          <p:cNvPr id="35" name="Text 30"/>
          <p:cNvSpPr/>
          <p:nvPr/>
        </p:nvSpPr>
        <p:spPr>
          <a:xfrm>
            <a:off x="3552816" y="4200525"/>
            <a:ext cx="6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885" dirty="0"/>
          </a:p>
        </p:txBody>
      </p:sp>
      <p:sp>
        <p:nvSpPr>
          <p:cNvPr id="36" name="Shape 31"/>
          <p:cNvSpPr/>
          <p:nvPr/>
        </p:nvSpPr>
        <p:spPr>
          <a:xfrm>
            <a:off x="6019781" y="1901428"/>
            <a:ext cx="2552719" cy="2689622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6019781" y="1943100"/>
            <a:ext cx="2538431" cy="2857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31" y="2162770"/>
            <a:ext cx="192881" cy="257175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191231" y="2578894"/>
            <a:ext cx="22098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Enterprise</a:t>
            </a:r>
            <a:endParaRPr lang="en-US" sz="1193" dirty="0"/>
          </a:p>
        </p:txBody>
      </p:sp>
      <p:sp>
        <p:nvSpPr>
          <p:cNvPr id="40" name="Text 34"/>
          <p:cNvSpPr/>
          <p:nvPr/>
        </p:nvSpPr>
        <p:spPr>
          <a:xfrm>
            <a:off x="6181098" y="2871191"/>
            <a:ext cx="2209819" cy="1425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Corporate treasury management with programmable spending limits and controls.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1000" dirty="0">
              <a:solidFill>
                <a:srgbClr val="444444"/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Examples:</a:t>
            </a:r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44444"/>
                </a:solidFill>
              </a:rPr>
              <a:t>Coinbase</a:t>
            </a:r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44444"/>
                </a:solidFill>
              </a:rPr>
              <a:t>Alchemy</a:t>
            </a:r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444444"/>
                </a:solidFill>
              </a:rPr>
              <a:t>ZeroDev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6276956" y="4055864"/>
            <a:ext cx="65" cy="97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endParaRPr lang="en-US" sz="621" dirty="0"/>
          </a:p>
        </p:txBody>
      </p:sp>
      <p:sp>
        <p:nvSpPr>
          <p:cNvPr id="44" name="Text 38"/>
          <p:cNvSpPr/>
          <p:nvPr/>
        </p:nvSpPr>
        <p:spPr>
          <a:xfrm>
            <a:off x="6276956" y="4200525"/>
            <a:ext cx="6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885" dirty="0"/>
          </a:p>
        </p:txBody>
      </p:sp>
      <p:sp>
        <p:nvSpPr>
          <p:cNvPr id="45" name="Shape 39"/>
          <p:cNvSpPr/>
          <p:nvPr/>
        </p:nvSpPr>
        <p:spPr>
          <a:xfrm>
            <a:off x="571500" y="4861322"/>
            <a:ext cx="8001000" cy="2678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571500" y="4861322"/>
            <a:ext cx="80010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571500" y="4861322"/>
            <a:ext cx="8001000" cy="26789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Security failure leads to </a:t>
            </a:r>
            <a:r>
              <a:rPr lang="en-US" sz="885" b="1" dirty="0">
                <a:solidFill>
                  <a:srgbClr val="6366F1"/>
                </a:solidFill>
              </a:rPr>
              <a:t>direct financial loss</a:t>
            </a:r>
            <a:r>
              <a:rPr lang="en-US" sz="942" dirty="0">
                <a:solidFill>
                  <a:srgbClr val="444444"/>
                </a:solidFill>
              </a:rPr>
              <a:t> and </a:t>
            </a:r>
            <a:r>
              <a:rPr lang="en-US" sz="885" b="1" dirty="0">
                <a:solidFill>
                  <a:srgbClr val="6366F1"/>
                </a:solidFill>
              </a:rPr>
              <a:t>service disruption</a:t>
            </a:r>
            <a:r>
              <a:rPr lang="en-US" sz="942" dirty="0">
                <a:solidFill>
                  <a:srgbClr val="444444"/>
                </a:solidFill>
              </a:rPr>
              <a:t> for thousands of users.</a:t>
            </a:r>
            <a:endParaRPr lang="en-US" sz="942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E01166-B486-6027-B21A-EBAB06D29B01}"/>
              </a:ext>
            </a:extLst>
          </p:cNvPr>
          <p:cNvSpPr txBox="1"/>
          <p:nvPr/>
        </p:nvSpPr>
        <p:spPr>
          <a:xfrm>
            <a:off x="8661197" y="4889584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10501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464469"/>
            <a:ext cx="8001000" cy="1428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Context &amp; Challenge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71500" y="662583"/>
            <a:ext cx="5408981" cy="4623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The Promise and Peril of Paymaster</a:t>
            </a:r>
            <a:endParaRPr lang="en-US" sz="2862" dirty="0"/>
          </a:p>
        </p:txBody>
      </p:sp>
      <p:sp>
        <p:nvSpPr>
          <p:cNvPr id="7" name="Shape 4"/>
          <p:cNvSpPr/>
          <p:nvPr/>
        </p:nvSpPr>
        <p:spPr>
          <a:xfrm>
            <a:off x="571500" y="1635919"/>
            <a:ext cx="3786188" cy="33361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1500" y="1635919"/>
            <a:ext cx="3786188" cy="4286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1721644"/>
            <a:ext cx="285750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7225" y="2121694"/>
            <a:ext cx="361473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111"/>
                </a:solidFill>
              </a:rPr>
              <a:t>The Breakthrough</a:t>
            </a:r>
            <a:endParaRPr lang="en-US" sz="1602" dirty="0"/>
          </a:p>
        </p:txBody>
      </p:sp>
      <p:sp>
        <p:nvSpPr>
          <p:cNvPr id="11" name="Text 7"/>
          <p:cNvSpPr/>
          <p:nvPr/>
        </p:nvSpPr>
        <p:spPr>
          <a:xfrm>
            <a:off x="657225" y="2562820"/>
            <a:ext cx="537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D1D5DB"/>
                </a:solidFill>
              </a:rPr>
              <a:t>•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871538" y="2564606"/>
            <a:ext cx="3087970" cy="39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Paymasters sponsor gas fees, eliminating ETH requirement for users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57225" y="3048595"/>
            <a:ext cx="537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D1D5DB"/>
                </a:solidFill>
              </a:rPr>
              <a:t>•</a:t>
            </a:r>
            <a:endParaRPr lang="en-US" sz="987" dirty="0"/>
          </a:p>
        </p:txBody>
      </p:sp>
      <p:sp>
        <p:nvSpPr>
          <p:cNvPr id="14" name="Text 10"/>
          <p:cNvSpPr/>
          <p:nvPr/>
        </p:nvSpPr>
        <p:spPr>
          <a:xfrm>
            <a:off x="871538" y="3050381"/>
            <a:ext cx="3092407" cy="39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Enables seamless onboarding for Gaming and DeFi applications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7225" y="3534370"/>
            <a:ext cx="537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D1D5DB"/>
                </a:solidFill>
              </a:rPr>
              <a:t>•</a:t>
            </a:r>
            <a:endParaRPr lang="en-US" sz="987" dirty="0"/>
          </a:p>
        </p:txBody>
      </p:sp>
      <p:sp>
        <p:nvSpPr>
          <p:cNvPr id="16" name="Text 12"/>
          <p:cNvSpPr/>
          <p:nvPr/>
        </p:nvSpPr>
        <p:spPr>
          <a:xfrm>
            <a:off x="871538" y="3536156"/>
            <a:ext cx="2847231" cy="39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Decouples user identity from gas payment mechanics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86313" y="1635919"/>
            <a:ext cx="3786188" cy="33361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86313" y="1635919"/>
            <a:ext cx="3786188" cy="42863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2038" y="1721644"/>
            <a:ext cx="285750" cy="2857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72038" y="2121694"/>
            <a:ext cx="361473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111"/>
                </a:solidFill>
              </a:rPr>
              <a:t>The Security Gap</a:t>
            </a:r>
            <a:endParaRPr lang="en-US" sz="1602" dirty="0"/>
          </a:p>
        </p:txBody>
      </p:sp>
      <p:sp>
        <p:nvSpPr>
          <p:cNvPr id="21" name="Text 16"/>
          <p:cNvSpPr/>
          <p:nvPr/>
        </p:nvSpPr>
        <p:spPr>
          <a:xfrm>
            <a:off x="4872038" y="2562820"/>
            <a:ext cx="537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D1D5DB"/>
                </a:solidFill>
              </a:rPr>
              <a:t>•</a:t>
            </a:r>
            <a:endParaRPr lang="en-US" sz="987" dirty="0"/>
          </a:p>
        </p:txBody>
      </p:sp>
      <p:sp>
        <p:nvSpPr>
          <p:cNvPr id="22" name="Text 17"/>
          <p:cNvSpPr/>
          <p:nvPr/>
        </p:nvSpPr>
        <p:spPr>
          <a:xfrm>
            <a:off x="5086350" y="2564606"/>
            <a:ext cx="3325723" cy="39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Paymasters hold large ETH deposits vulnerable to drain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872038" y="3048595"/>
            <a:ext cx="537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D1D5DB"/>
                </a:solidFill>
              </a:rPr>
              <a:t>•</a:t>
            </a:r>
            <a:endParaRPr lang="en-US" sz="987" dirty="0"/>
          </a:p>
        </p:txBody>
      </p:sp>
      <p:sp>
        <p:nvSpPr>
          <p:cNvPr id="24" name="Text 19"/>
          <p:cNvSpPr/>
          <p:nvPr/>
        </p:nvSpPr>
        <p:spPr>
          <a:xfrm>
            <a:off x="5086350" y="3050381"/>
            <a:ext cx="3002803" cy="39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Standard implementations lack rate limiting or spam protection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872038" y="3534370"/>
            <a:ext cx="537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D1D5DB"/>
                </a:solidFill>
              </a:rPr>
              <a:t>•</a:t>
            </a:r>
            <a:endParaRPr lang="en-US" sz="987" dirty="0"/>
          </a:p>
        </p:txBody>
      </p:sp>
      <p:sp>
        <p:nvSpPr>
          <p:cNvPr id="26" name="Text 21"/>
          <p:cNvSpPr/>
          <p:nvPr/>
        </p:nvSpPr>
        <p:spPr>
          <a:xfrm>
            <a:off x="5086350" y="3536156"/>
            <a:ext cx="2723499" cy="39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Open to griefing attacks and gas penalty exploitation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71500" y="4527352"/>
            <a:ext cx="8001000" cy="444698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71500" y="4527352"/>
            <a:ext cx="28575" cy="44469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85800" y="4613077"/>
            <a:ext cx="147119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CRITICAL RISK:</a:t>
            </a:r>
            <a:endParaRPr lang="en-US" sz="1397" dirty="0"/>
          </a:p>
        </p:txBody>
      </p:sp>
      <p:sp>
        <p:nvSpPr>
          <p:cNvPr id="30" name="Text 25"/>
          <p:cNvSpPr/>
          <p:nvPr/>
        </p:nvSpPr>
        <p:spPr>
          <a:xfrm>
            <a:off x="2299869" y="4662190"/>
            <a:ext cx="61583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Baseline paymasters can be drained of thousands in ETH within hours by coordinated spam attacks</a:t>
            </a:r>
            <a:endParaRPr lang="en-US" sz="942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C079BF-D2E6-2727-631C-7ECF025C504A}"/>
              </a:ext>
            </a:extLst>
          </p:cNvPr>
          <p:cNvSpPr txBox="1"/>
          <p:nvPr/>
        </p:nvSpPr>
        <p:spPr>
          <a:xfrm>
            <a:off x="8661197" y="4889584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50"/>
            <a:ext cx="9144000" cy="56477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10501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464469"/>
            <a:ext cx="8001000" cy="1428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Problem Statement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71500" y="662583"/>
            <a:ext cx="800100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Default Paymasters Are Vulnerable</a:t>
            </a:r>
            <a:endParaRPr lang="en-US" sz="2862" dirty="0"/>
          </a:p>
        </p:txBody>
      </p:sp>
      <p:sp>
        <p:nvSpPr>
          <p:cNvPr id="7" name="Shape 4"/>
          <p:cNvSpPr/>
          <p:nvPr/>
        </p:nvSpPr>
        <p:spPr>
          <a:xfrm>
            <a:off x="571500" y="1750219"/>
            <a:ext cx="4667241" cy="1094389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1500" y="1750219"/>
            <a:ext cx="42863" cy="109438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994892"/>
            <a:ext cx="17145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85850" y="1921669"/>
            <a:ext cx="398144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Spam &amp; Griefing Attacks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1085850" y="2193131"/>
            <a:ext cx="398144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Attackers submit unlimited valid UserOperations. Without rate limits, these legitimate-looking requests rapidly drain the paymaster's deposited ETH.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571500" y="2930333"/>
            <a:ext cx="4667241" cy="1094389"/>
          </a:xfrm>
          <a:prstGeom prst="rect">
            <a:avLst/>
          </a:prstGeom>
          <a:solidFill>
            <a:srgbClr val="F0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71500" y="2930333"/>
            <a:ext cx="42863" cy="1094389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3175006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101783"/>
            <a:ext cx="39242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Gas Penalty Exploitation</a:t>
            </a:r>
            <a:endParaRPr lang="en-US" sz="1090" dirty="0"/>
          </a:p>
        </p:txBody>
      </p:sp>
      <p:sp>
        <p:nvSpPr>
          <p:cNvPr id="16" name="Text 11"/>
          <p:cNvSpPr/>
          <p:nvPr/>
        </p:nvSpPr>
        <p:spPr>
          <a:xfrm>
            <a:off x="1143000" y="3373245"/>
            <a:ext cx="392429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Malicious users specify artificially high gas limits. This triggers the EntryPoint's 10% penalty on unused gas, charging the paymaster significantly more than the execution cost.</a:t>
            </a:r>
            <a:endParaRPr lang="en-US" sz="834" dirty="0"/>
          </a:p>
        </p:txBody>
      </p:sp>
      <p:sp>
        <p:nvSpPr>
          <p:cNvPr id="17" name="Shape 12"/>
          <p:cNvSpPr/>
          <p:nvPr/>
        </p:nvSpPr>
        <p:spPr>
          <a:xfrm>
            <a:off x="571500" y="4110447"/>
            <a:ext cx="4667241" cy="1094389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571500" y="4110447"/>
            <a:ext cx="42863" cy="109438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435512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43000" y="4281897"/>
            <a:ext cx="39242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PostOp Failure Loop</a:t>
            </a:r>
            <a:endParaRPr lang="en-US" sz="1090" dirty="0"/>
          </a:p>
        </p:txBody>
      </p:sp>
      <p:sp>
        <p:nvSpPr>
          <p:cNvPr id="21" name="Text 15"/>
          <p:cNvSpPr/>
          <p:nvPr/>
        </p:nvSpPr>
        <p:spPr>
          <a:xfrm>
            <a:off x="1143000" y="4553359"/>
            <a:ext cx="392429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In token paymasters, if the token collection fails in postOp, the bundler is still paid from the deposit, but the paymaster collects nothing from the user.</a:t>
            </a:r>
            <a:endParaRPr lang="en-US" sz="834" dirty="0"/>
          </a:p>
        </p:txBody>
      </p:sp>
      <p:sp>
        <p:nvSpPr>
          <p:cNvPr id="22" name="Shape 16"/>
          <p:cNvSpPr/>
          <p:nvPr/>
        </p:nvSpPr>
        <p:spPr>
          <a:xfrm>
            <a:off x="5667366" y="1750219"/>
            <a:ext cx="2905134" cy="345461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5953116" y="2035969"/>
            <a:ext cx="2333634" cy="394692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Systemic Flaws</a:t>
            </a:r>
            <a:endParaRPr lang="en-US" sz="1397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3116" y="2661047"/>
            <a:ext cx="142875" cy="14287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210291" y="2644973"/>
            <a:ext cx="8754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No Rate Limits</a:t>
            </a:r>
            <a:endParaRPr lang="en-US" sz="942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3116" y="3007519"/>
            <a:ext cx="142875" cy="14287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210291" y="2991445"/>
            <a:ext cx="9614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No User Quotas</a:t>
            </a:r>
            <a:endParaRPr lang="en-US" sz="942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3116" y="3353991"/>
            <a:ext cx="142875" cy="14287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210291" y="3337917"/>
            <a:ext cx="11136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Unpredictable Gas</a:t>
            </a:r>
            <a:endParaRPr lang="en-US" sz="942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3116" y="3700463"/>
            <a:ext cx="142875" cy="14287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210291" y="3684389"/>
            <a:ext cx="11098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No Approval Layer</a:t>
            </a:r>
            <a:endParaRPr lang="en-US" sz="942" dirty="0"/>
          </a:p>
        </p:txBody>
      </p:sp>
      <p:sp>
        <p:nvSpPr>
          <p:cNvPr id="32" name="Text 22"/>
          <p:cNvSpPr/>
          <p:nvPr/>
        </p:nvSpPr>
        <p:spPr>
          <a:xfrm>
            <a:off x="5953116" y="4492247"/>
            <a:ext cx="23336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888888"/>
                </a:solidFill>
              </a:rPr>
              <a:t>Economic Impact</a:t>
            </a:r>
            <a:endParaRPr lang="en-US" sz="727" dirty="0"/>
          </a:p>
        </p:txBody>
      </p:sp>
      <p:sp>
        <p:nvSpPr>
          <p:cNvPr id="33" name="Text 23"/>
          <p:cNvSpPr/>
          <p:nvPr/>
        </p:nvSpPr>
        <p:spPr>
          <a:xfrm>
            <a:off x="5953116" y="4685128"/>
            <a:ext cx="233363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Total Deposit Drain</a:t>
            </a:r>
            <a:endParaRPr lang="en-US" sz="1193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87F7FC-3403-0E18-F6D5-B2AF8545FE92}"/>
              </a:ext>
            </a:extLst>
          </p:cNvPr>
          <p:cNvSpPr txBox="1"/>
          <p:nvPr/>
        </p:nvSpPr>
        <p:spPr>
          <a:xfrm>
            <a:off x="8572500" y="5349340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9215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335881"/>
            <a:ext cx="8001000" cy="1428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Research Foundations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71500" y="662583"/>
            <a:ext cx="800100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Literature Review</a:t>
            </a:r>
            <a:endParaRPr lang="en-US" sz="2862" dirty="0"/>
          </a:p>
        </p:txBody>
      </p:sp>
      <p:sp>
        <p:nvSpPr>
          <p:cNvPr id="7" name="Shape 4"/>
          <p:cNvSpPr/>
          <p:nvPr/>
        </p:nvSpPr>
        <p:spPr>
          <a:xfrm>
            <a:off x="605764" y="1536385"/>
            <a:ext cx="8001000" cy="11001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1500" y="1550194"/>
            <a:ext cx="80010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565356" y="1550194"/>
            <a:ext cx="7144" cy="110013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2643188"/>
            <a:ext cx="80010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1500" y="1550194"/>
            <a:ext cx="42863" cy="110013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4375" y="1693069"/>
            <a:ext cx="2508957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11111"/>
                </a:solidFill>
              </a:rPr>
              <a:t>1. ERC-4337 Security &amp; Gas Abuse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10522" y="1746408"/>
            <a:ext cx="8191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366F1"/>
                </a:solidFill>
              </a:rPr>
              <a:t>Arxiv 2309.00448</a:t>
            </a:r>
            <a:endParaRPr lang="en-US" sz="683" dirty="0"/>
          </a:p>
        </p:txBody>
      </p:sp>
      <p:pic>
        <p:nvPicPr>
          <p:cNvPr id="14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613" y="1750219"/>
            <a:ext cx="100013" cy="10001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4375" y="1978819"/>
            <a:ext cx="7715250" cy="348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4444"/>
                </a:solidFill>
              </a:rPr>
              <a:t>Academic analysis highlights that expanding transaction abstraction shifts security burdens onto smart contracts. Research in </a:t>
            </a:r>
            <a:r>
              <a:rPr lang="en-US" sz="1000" b="1" dirty="0">
                <a:solidFill>
                  <a:srgbClr val="111111"/>
                </a:solidFill>
              </a:rPr>
              <a:t>"Account Abstraction, Analysed"</a:t>
            </a:r>
            <a:r>
              <a:rPr lang="en-US" sz="1050" dirty="0">
                <a:solidFill>
                  <a:srgbClr val="444444"/>
                </a:solidFill>
              </a:rPr>
              <a:t> notes that programmability at the Paymaster layer introduces significant risks if validation logic is unsafe or incomplete.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71500" y="2778919"/>
            <a:ext cx="8001000" cy="9286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71500" y="2778919"/>
            <a:ext cx="80010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565356" y="2778919"/>
            <a:ext cx="7144" cy="928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71500" y="3700463"/>
            <a:ext cx="80010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71500" y="2778919"/>
            <a:ext cx="42863" cy="92868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14375" y="2921794"/>
            <a:ext cx="3326488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11111"/>
                </a:solidFill>
              </a:rPr>
              <a:t>2. UserOp Encoding &amp; Signature Weaknesses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610522" y="2987559"/>
            <a:ext cx="8902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366F1"/>
                </a:solidFill>
              </a:rPr>
              <a:t>Alchemy Research</a:t>
            </a:r>
            <a:endParaRPr lang="en-US" sz="683" dirty="0"/>
          </a:p>
        </p:txBody>
      </p:sp>
      <p:pic>
        <p:nvPicPr>
          <p:cNvPr id="23" name="Image 2" descr="preencoded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613" y="2978944"/>
            <a:ext cx="100013" cy="10001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14375" y="3214688"/>
            <a:ext cx="1748877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Technical analysis uncovered that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2629160" y="3194728"/>
            <a:ext cx="1942840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11111"/>
                </a:solidFill>
              </a:rPr>
              <a:t>improper hashing of UserOperations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85841" y="3214688"/>
            <a:ext cx="3391954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can allow signature reuse for unintended payloads. Signing fewer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14375" y="3386138"/>
            <a:ext cx="2579232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fields than required allows attackers to substitute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3393225" y="3386138"/>
            <a:ext cx="429605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11111"/>
                </a:solidFill>
              </a:rPr>
              <a:t>callData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3941871" y="3386138"/>
            <a:ext cx="1758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or</a:t>
            </a:r>
            <a:endParaRPr lang="en-US" sz="834" dirty="0"/>
          </a:p>
        </p:txBody>
      </p:sp>
      <p:sp>
        <p:nvSpPr>
          <p:cNvPr id="30" name="Text 25"/>
          <p:cNvSpPr/>
          <p:nvPr/>
        </p:nvSpPr>
        <p:spPr>
          <a:xfrm>
            <a:off x="4117674" y="3386138"/>
            <a:ext cx="447238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11111"/>
                </a:solidFill>
              </a:rPr>
              <a:t>initCode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666320" y="3386138"/>
            <a:ext cx="1992533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, leading to unauthorized sponsorship.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71500" y="3836194"/>
            <a:ext cx="8001000" cy="9286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571500" y="3836194"/>
            <a:ext cx="80010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8565356" y="3836194"/>
            <a:ext cx="7144" cy="928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571500" y="4757738"/>
            <a:ext cx="80010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571500" y="3836194"/>
            <a:ext cx="42863" cy="9286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714375" y="3979069"/>
            <a:ext cx="3309496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11111"/>
                </a:solidFill>
              </a:rPr>
              <a:t>3. Defensive Patterns: Quotas &amp; Whitelisting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7610522" y="4040322"/>
            <a:ext cx="9028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366F1"/>
                </a:solidFill>
              </a:rPr>
              <a:t>Calibraint Analysis</a:t>
            </a:r>
            <a:endParaRPr lang="en-US" sz="683" dirty="0"/>
          </a:p>
        </p:txBody>
      </p:sp>
      <p:pic>
        <p:nvPicPr>
          <p:cNvPr id="39" name="Image 3" descr="preencoded.png">
            <a:hlinkClick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613" y="4036219"/>
            <a:ext cx="100013" cy="100013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14375" y="4264819"/>
            <a:ext cx="7715250" cy="348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4444"/>
                </a:solidFill>
              </a:rPr>
              <a:t>Industry research advocates for the enforcement of </a:t>
            </a:r>
            <a:r>
              <a:rPr lang="en-US" sz="1000" b="1" dirty="0">
                <a:solidFill>
                  <a:srgbClr val="111111"/>
                </a:solidFill>
              </a:rPr>
              <a:t>caps, budgets, and approved targets</a:t>
            </a:r>
            <a:r>
              <a:rPr lang="en-US" sz="1050" dirty="0">
                <a:solidFill>
                  <a:srgbClr val="444444"/>
                </a:solidFill>
              </a:rPr>
              <a:t> to limit the impact surface. These defensive controls are essential to transform Paymasters from experimental tech into production-grade infrastructure.</a:t>
            </a:r>
            <a:endParaRPr lang="en-US" sz="105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5A6739-B702-E07A-D47D-7FC47EECFA7A}"/>
              </a:ext>
            </a:extLst>
          </p:cNvPr>
          <p:cNvSpPr txBox="1"/>
          <p:nvPr/>
        </p:nvSpPr>
        <p:spPr>
          <a:xfrm>
            <a:off x="8661197" y="4889584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85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9929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28625" y="1407319"/>
            <a:ext cx="8286750" cy="1428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Modification 1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428625" y="662583"/>
            <a:ext cx="828675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Quota &amp; Rate Limiting Architecture</a:t>
            </a:r>
            <a:endParaRPr lang="en-US" sz="2862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610023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1578769"/>
            <a:ext cx="192847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Sponsorship Signature</a:t>
            </a:r>
            <a:endParaRPr lang="en-US" sz="1193" dirty="0"/>
          </a:p>
        </p:txBody>
      </p:sp>
      <p:sp>
        <p:nvSpPr>
          <p:cNvPr id="9" name="Shape 5"/>
          <p:cNvSpPr/>
          <p:nvPr/>
        </p:nvSpPr>
        <p:spPr>
          <a:xfrm>
            <a:off x="428625" y="1898452"/>
            <a:ext cx="3649787" cy="13858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00075" y="1812727"/>
            <a:ext cx="1114871" cy="11608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00075" y="1812727"/>
            <a:ext cx="1114871" cy="11608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FFFFFF"/>
                </a:solidFill>
              </a:rPr>
              <a:t>OFF-CHAIN</a:t>
            </a:r>
            <a:endParaRPr lang="en-US" sz="584" dirty="0"/>
          </a:p>
        </p:txBody>
      </p:sp>
      <p:sp>
        <p:nvSpPr>
          <p:cNvPr id="12" name="Shape 8"/>
          <p:cNvSpPr/>
          <p:nvPr/>
        </p:nvSpPr>
        <p:spPr>
          <a:xfrm>
            <a:off x="600075" y="1812727"/>
            <a:ext cx="1114871" cy="11608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00075" y="1812727"/>
            <a:ext cx="1114871" cy="11608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FFFFFF"/>
                </a:solidFill>
              </a:rPr>
              <a:t>SIGNATURE</a:t>
            </a:r>
            <a:endParaRPr lang="en-US" sz="584" dirty="0"/>
          </a:p>
        </p:txBody>
      </p:sp>
      <p:sp>
        <p:nvSpPr>
          <p:cNvPr id="14" name="Text 10"/>
          <p:cNvSpPr/>
          <p:nvPr/>
        </p:nvSpPr>
        <p:spPr>
          <a:xfrm>
            <a:off x="542925" y="2012752"/>
            <a:ext cx="3421187" cy="1330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E5E7EB"/>
                </a:solidFill>
              </a:rPr>
              <a:t>{
</a:t>
            </a:r>
            <a:r>
              <a:rPr lang="en-US" sz="942" dirty="0">
                <a:solidFill>
                  <a:srgbClr val="A5B4FC"/>
                </a:solidFill>
              </a:rPr>
              <a:t>userAddr:</a:t>
            </a:r>
            <a:r>
              <a:rPr lang="en-US" sz="885" b="1" dirty="0">
                <a:solidFill>
                  <a:srgbClr val="FFFFFF"/>
                </a:solidFill>
              </a:rPr>
              <a:t>0x71C...9A2</a:t>
            </a:r>
            <a:r>
              <a:rPr lang="en-US" sz="942" dirty="0">
                <a:solidFill>
                  <a:srgbClr val="E5E7EB"/>
                </a:solidFill>
              </a:rPr>
              <a:t>,
</a:t>
            </a:r>
            <a:r>
              <a:rPr lang="en-US" sz="942" dirty="0">
                <a:solidFill>
                  <a:srgbClr val="A5B4FC"/>
                </a:solidFill>
              </a:rPr>
              <a:t>maxGas:</a:t>
            </a:r>
            <a:r>
              <a:rPr lang="en-US" sz="885" b="1" dirty="0">
                <a:solidFill>
                  <a:srgbClr val="FFFFFF"/>
                </a:solidFill>
              </a:rPr>
              <a:t>500,000</a:t>
            </a:r>
            <a:r>
              <a:rPr lang="en-US" sz="942" dirty="0">
                <a:solidFill>
                  <a:srgbClr val="E5E7EB"/>
                </a:solidFill>
              </a:rPr>
              <a:t>,
</a:t>
            </a:r>
            <a:r>
              <a:rPr lang="en-US" sz="942" dirty="0">
                <a:solidFill>
                  <a:srgbClr val="A5B4FC"/>
                </a:solidFill>
              </a:rPr>
              <a:t>expiry:</a:t>
            </a:r>
            <a:r>
              <a:rPr lang="en-US" sz="885" b="1" dirty="0">
                <a:solidFill>
                  <a:srgbClr val="FFFFFF"/>
                </a:solidFill>
              </a:rPr>
              <a:t>1735689000</a:t>
            </a:r>
            <a:r>
              <a:rPr lang="en-US" sz="942" dirty="0">
                <a:solidFill>
                  <a:srgbClr val="E5E7EB"/>
                </a:solidFill>
              </a:rPr>
              <a:t>,
</a:t>
            </a:r>
            <a:r>
              <a:rPr lang="en-US" sz="942" dirty="0">
                <a:solidFill>
                  <a:srgbClr val="A5B4FC"/>
                </a:solidFill>
              </a:rPr>
              <a:t>chainId:</a:t>
            </a:r>
            <a:r>
              <a:rPr lang="en-US" sz="885" b="1" dirty="0">
                <a:solidFill>
                  <a:srgbClr val="FFFFFF"/>
                </a:solidFill>
              </a:rPr>
              <a:t>1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A5B5FD"/>
                </a:solidFill>
              </a:rPr>
              <a:t>nonce</a:t>
            </a:r>
            <a:r>
              <a:rPr lang="en-US" sz="885" b="1" dirty="0">
                <a:solidFill>
                  <a:srgbClr val="FFFFFF"/>
                </a:solidFill>
              </a:rPr>
              <a:t>: “random-</a:t>
            </a:r>
            <a:r>
              <a:rPr lang="en-US" sz="885" b="1" dirty="0" err="1">
                <a:solidFill>
                  <a:srgbClr val="FFFFFF"/>
                </a:solidFill>
              </a:rPr>
              <a:t>uuid</a:t>
            </a:r>
            <a:r>
              <a:rPr lang="en-US" sz="885" b="1" dirty="0">
                <a:solidFill>
                  <a:srgbClr val="FFFFFF"/>
                </a:solidFill>
              </a:rPr>
              <a:t>-or-increment”</a:t>
            </a:r>
            <a:r>
              <a:rPr lang="en-US" sz="942" dirty="0">
                <a:solidFill>
                  <a:srgbClr val="E5E7EB"/>
                </a:solidFill>
              </a:rPr>
              <a:t>
 }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428625" y="3427214"/>
            <a:ext cx="3649787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Users must obtain a short-lived signature from an off-chain service before submitting. The Paymaster verifies this signature on-chain before paying any gas.</a:t>
            </a:r>
            <a:endParaRPr lang="en-US" sz="942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5587" y="1610023"/>
            <a:ext cx="171450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92762" y="1578769"/>
            <a:ext cx="13275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Enforced Limits</a:t>
            </a:r>
            <a:endParaRPr lang="en-US" sz="1193" dirty="0"/>
          </a:p>
        </p:txBody>
      </p:sp>
      <p:sp>
        <p:nvSpPr>
          <p:cNvPr id="18" name="Shape 13"/>
          <p:cNvSpPr/>
          <p:nvPr/>
        </p:nvSpPr>
        <p:spPr>
          <a:xfrm>
            <a:off x="4335587" y="1984177"/>
            <a:ext cx="4379788" cy="71973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335587" y="1984177"/>
            <a:ext cx="42863" cy="719733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421312" y="2186880"/>
            <a:ext cx="314325" cy="314325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9177" y="2272605"/>
            <a:ext cx="178594" cy="1428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49937" y="2069902"/>
            <a:ext cx="3779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Per-User Daily Budget</a:t>
            </a:r>
            <a:endParaRPr lang="en-US" sz="987" dirty="0"/>
          </a:p>
        </p:txBody>
      </p:sp>
      <p:sp>
        <p:nvSpPr>
          <p:cNvPr id="23" name="Text 17"/>
          <p:cNvSpPr/>
          <p:nvPr/>
        </p:nvSpPr>
        <p:spPr>
          <a:xfrm>
            <a:off x="4849937" y="2307431"/>
            <a:ext cx="3779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Strict cap (e.g., 0.01 ETH) on gas sponsorship per user address per day. Prevents individual attackers from draining the pool.</a:t>
            </a:r>
            <a:endParaRPr lang="en-US" sz="834" dirty="0"/>
          </a:p>
        </p:txBody>
      </p:sp>
      <p:sp>
        <p:nvSpPr>
          <p:cNvPr id="24" name="Shape 18"/>
          <p:cNvSpPr/>
          <p:nvPr/>
        </p:nvSpPr>
        <p:spPr>
          <a:xfrm>
            <a:off x="4335587" y="2789634"/>
            <a:ext cx="4379788" cy="71973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335587" y="2789634"/>
            <a:ext cx="42863" cy="719733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421312" y="2992338"/>
            <a:ext cx="314325" cy="314325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037" y="3078063"/>
            <a:ext cx="142875" cy="1428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849937" y="2875359"/>
            <a:ext cx="3779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Per-dApp Aggregate Budget</a:t>
            </a:r>
            <a:endParaRPr lang="en-US" sz="987" dirty="0"/>
          </a:p>
        </p:txBody>
      </p:sp>
      <p:sp>
        <p:nvSpPr>
          <p:cNvPr id="29" name="Text 22"/>
          <p:cNvSpPr/>
          <p:nvPr/>
        </p:nvSpPr>
        <p:spPr>
          <a:xfrm>
            <a:off x="4849937" y="3112889"/>
            <a:ext cx="3779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Global limits for specific applications. If a dApp is compromised, the damage is contained to its specific quota.</a:t>
            </a:r>
            <a:endParaRPr lang="en-US" sz="834" dirty="0"/>
          </a:p>
        </p:txBody>
      </p:sp>
      <p:sp>
        <p:nvSpPr>
          <p:cNvPr id="30" name="Shape 23"/>
          <p:cNvSpPr/>
          <p:nvPr/>
        </p:nvSpPr>
        <p:spPr>
          <a:xfrm>
            <a:off x="4335587" y="3595092"/>
            <a:ext cx="4379788" cy="71973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4335587" y="3595092"/>
            <a:ext cx="42863" cy="719733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4421312" y="3797796"/>
            <a:ext cx="314325" cy="314325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4896" y="3883521"/>
            <a:ext cx="107156" cy="14287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849937" y="3680817"/>
            <a:ext cx="3779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Short-Lived Expiry</a:t>
            </a:r>
            <a:endParaRPr lang="en-US" sz="987" dirty="0"/>
          </a:p>
        </p:txBody>
      </p:sp>
      <p:sp>
        <p:nvSpPr>
          <p:cNvPr id="35" name="Text 27"/>
          <p:cNvSpPr/>
          <p:nvPr/>
        </p:nvSpPr>
        <p:spPr>
          <a:xfrm>
            <a:off x="4849937" y="3918347"/>
            <a:ext cx="3779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Signatures expire in 5-10 minutes. Mitigates replay attacks and limits the window for stolen signature exploitation.</a:t>
            </a:r>
            <a:endParaRPr lang="en-US" sz="834" dirty="0"/>
          </a:p>
        </p:txBody>
      </p:sp>
      <p:sp>
        <p:nvSpPr>
          <p:cNvPr id="36" name="Shape 28"/>
          <p:cNvSpPr/>
          <p:nvPr/>
        </p:nvSpPr>
        <p:spPr>
          <a:xfrm>
            <a:off x="4335587" y="4486275"/>
            <a:ext cx="4379788" cy="496491"/>
          </a:xfrm>
          <a:prstGeom prst="rect">
            <a:avLst/>
          </a:prstGeom>
          <a:solidFill>
            <a:srgbClr val="F0FDF4"/>
          </a:solidFill>
          <a:ln w="9144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1312" y="4655939"/>
            <a:ext cx="142875" cy="14287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649912" y="4572000"/>
            <a:ext cx="397973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66534"/>
                </a:solidFill>
              </a:rPr>
              <a:t>Result: Attacks become economically infeasible and deposit drain is mathematically impossible.</a:t>
            </a:r>
            <a:endParaRPr lang="en-US" sz="784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3F2B16-3790-201F-C696-E86DB179DFBE}"/>
              </a:ext>
            </a:extLst>
          </p:cNvPr>
          <p:cNvSpPr txBox="1"/>
          <p:nvPr/>
        </p:nvSpPr>
        <p:spPr>
          <a:xfrm>
            <a:off x="8661197" y="4889584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965201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Modification 2</a:t>
            </a:r>
            <a:endParaRPr lang="en-US" sz="1269" dirty="0"/>
          </a:p>
        </p:txBody>
      </p:sp>
      <p:sp>
        <p:nvSpPr>
          <p:cNvPr id="4" name="Text 1"/>
          <p:cNvSpPr/>
          <p:nvPr/>
        </p:nvSpPr>
        <p:spPr>
          <a:xfrm>
            <a:off x="571500" y="662583"/>
            <a:ext cx="800100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Target Contract Whitelisting</a:t>
            </a:r>
            <a:endParaRPr lang="en-US" sz="2862" dirty="0"/>
          </a:p>
        </p:txBody>
      </p:sp>
      <p:sp>
        <p:nvSpPr>
          <p:cNvPr id="5" name="Shape 2"/>
          <p:cNvSpPr/>
          <p:nvPr/>
        </p:nvSpPr>
        <p:spPr>
          <a:xfrm>
            <a:off x="0" y="1407319"/>
            <a:ext cx="4114800" cy="373618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53866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2963" y="2311003"/>
            <a:ext cx="2700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Default Paymasters sponsor </a:t>
            </a:r>
            <a:r>
              <a:rPr lang="en-US" sz="987" b="1" dirty="0">
                <a:solidFill>
                  <a:srgbClr val="FFFFFF"/>
                </a:solidFill>
              </a:rPr>
              <a:t>any</a:t>
            </a:r>
            <a:r>
              <a:rPr lang="en-US" sz="1050" dirty="0">
                <a:solidFill>
                  <a:srgbClr val="FFFFFF"/>
                </a:solidFill>
              </a:rPr>
              <a:t> contract calls requested by users.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96803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2963" y="2953941"/>
            <a:ext cx="2700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Opens the door for </a:t>
            </a:r>
            <a:r>
              <a:rPr lang="en-US" sz="987" b="1" dirty="0">
                <a:solidFill>
                  <a:srgbClr val="FFFFFF"/>
                </a:solidFill>
              </a:rPr>
              <a:t>malicious requests</a:t>
            </a:r>
            <a:r>
              <a:rPr lang="en-US" sz="1050" dirty="0">
                <a:solidFill>
                  <a:srgbClr val="FFFFFF"/>
                </a:solidFill>
              </a:rPr>
              <a:t> to non-intended protocols.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39741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42963" y="3596878"/>
            <a:ext cx="2700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No control over which </a:t>
            </a:r>
            <a:r>
              <a:rPr lang="en-US" sz="987" b="1" dirty="0">
                <a:solidFill>
                  <a:srgbClr val="FFFFFF"/>
                </a:solidFill>
              </a:rPr>
              <a:t>dApps</a:t>
            </a:r>
            <a:r>
              <a:rPr lang="en-US" sz="1050" dirty="0">
                <a:solidFill>
                  <a:srgbClr val="FFFFFF"/>
                </a:solidFill>
              </a:rPr>
              <a:t> consume the Paymaster's ETH deposit.</a:t>
            </a:r>
            <a:endParaRPr lang="en-US" sz="1050" dirty="0"/>
          </a:p>
        </p:txBody>
      </p:sp>
      <p:sp>
        <p:nvSpPr>
          <p:cNvPr id="12" name="Shape 6"/>
          <p:cNvSpPr/>
          <p:nvPr/>
        </p:nvSpPr>
        <p:spPr>
          <a:xfrm>
            <a:off x="4114800" y="1407319"/>
            <a:ext cx="5029200" cy="373618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4114800" y="1407319"/>
            <a:ext cx="57150" cy="3736181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4686300" y="2011859"/>
            <a:ext cx="38862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111"/>
                </a:solidFill>
              </a:rPr>
              <a:t>Proposed Solution</a:t>
            </a:r>
            <a:endParaRPr lang="en-US" sz="1602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653010"/>
            <a:ext cx="128588" cy="1285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57763" y="2610148"/>
            <a:ext cx="36147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11111"/>
                </a:solidFill>
              </a:rPr>
              <a:t>Maintain a </a:t>
            </a:r>
            <a:r>
              <a:rPr lang="en-US" sz="987" b="1" dirty="0">
                <a:solidFill>
                  <a:srgbClr val="111111"/>
                </a:solidFill>
              </a:rPr>
              <a:t>whitelist</a:t>
            </a:r>
            <a:r>
              <a:rPr lang="en-US" sz="1050" dirty="0">
                <a:solidFill>
                  <a:srgbClr val="111111"/>
                </a:solidFill>
              </a:rPr>
              <a:t> of allowed target contract addresses.</a:t>
            </a:r>
            <a:endParaRPr lang="en-US" sz="10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3295948"/>
            <a:ext cx="128588" cy="12858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957763" y="3262015"/>
            <a:ext cx="13821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11111"/>
                </a:solidFill>
              </a:rPr>
              <a:t>Paymaster validates</a:t>
            </a:r>
            <a:endParaRPr lang="en-US" sz="1050" dirty="0"/>
          </a:p>
        </p:txBody>
      </p:sp>
      <p:sp>
        <p:nvSpPr>
          <p:cNvPr id="19" name="Text 11"/>
          <p:cNvSpPr/>
          <p:nvPr/>
        </p:nvSpPr>
        <p:spPr>
          <a:xfrm>
            <a:off x="6339939" y="3262015"/>
            <a:ext cx="1285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6366F1"/>
                </a:solidFill>
              </a:rPr>
              <a:t>userOp.callData</a:t>
            </a:r>
            <a:endParaRPr lang="en-US" sz="987" dirty="0"/>
          </a:p>
        </p:txBody>
      </p:sp>
      <p:sp>
        <p:nvSpPr>
          <p:cNvPr id="20" name="Text 12"/>
          <p:cNvSpPr/>
          <p:nvPr/>
        </p:nvSpPr>
        <p:spPr>
          <a:xfrm>
            <a:off x="7625814" y="3262015"/>
            <a:ext cx="53050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11111"/>
                </a:solidFill>
              </a:rPr>
              <a:t>against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4957763" y="3476327"/>
            <a:ext cx="122174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11111"/>
                </a:solidFill>
              </a:rPr>
              <a:t>whitelist on-chain.</a:t>
            </a:r>
            <a:endParaRPr lang="en-US" sz="10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3938885"/>
            <a:ext cx="128588" cy="12858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957763" y="3896023"/>
            <a:ext cx="36147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11111"/>
                </a:solidFill>
              </a:rPr>
              <a:t>Blocks unauthorized dApps while still sponsoring </a:t>
            </a:r>
            <a:r>
              <a:rPr lang="en-US" sz="987" b="1" dirty="0">
                <a:solidFill>
                  <a:srgbClr val="111111"/>
                </a:solidFill>
              </a:rPr>
              <a:t>approved operations</a:t>
            </a:r>
            <a:r>
              <a:rPr lang="en-US" sz="1050" dirty="0">
                <a:solidFill>
                  <a:srgbClr val="111111"/>
                </a:solidFill>
              </a:rPr>
              <a:t>.</a:t>
            </a:r>
            <a:endParaRPr lang="en-US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DE2BFF-DE87-4FAD-0C55-EB7E4EEEB682}"/>
              </a:ext>
            </a:extLst>
          </p:cNvPr>
          <p:cNvSpPr txBox="1"/>
          <p:nvPr/>
        </p:nvSpPr>
        <p:spPr>
          <a:xfrm>
            <a:off x="8661197" y="4889584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875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9786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393031"/>
            <a:ext cx="8001000" cy="1428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965201" cy="1968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Modification 3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71500" y="662583"/>
            <a:ext cx="800100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Limiting Max Gas Fee</a:t>
            </a:r>
            <a:endParaRPr lang="en-US" sz="2862" dirty="0"/>
          </a:p>
        </p:txBody>
      </p:sp>
      <p:sp>
        <p:nvSpPr>
          <p:cNvPr id="7" name="Shape 4"/>
          <p:cNvSpPr/>
          <p:nvPr/>
        </p:nvSpPr>
        <p:spPr>
          <a:xfrm>
            <a:off x="571500" y="1535906"/>
            <a:ext cx="3857625" cy="2723555"/>
          </a:xfrm>
          <a:prstGeom prst="rect">
            <a:avLst/>
          </a:prstGeom>
          <a:solidFill>
            <a:srgbClr val="FFF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1500" y="1535906"/>
            <a:ext cx="3857625" cy="4286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421981" y="1535906"/>
            <a:ext cx="7144" cy="272355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500" y="4252317"/>
            <a:ext cx="3857625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1500" y="1535906"/>
            <a:ext cx="7144" cy="272355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715393"/>
            <a:ext cx="225028" cy="2000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3703" y="1678781"/>
            <a:ext cx="163622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The 10% Penalty</a:t>
            </a:r>
            <a:endParaRPr lang="en-US" sz="1397" dirty="0"/>
          </a:p>
        </p:txBody>
      </p:sp>
      <p:sp>
        <p:nvSpPr>
          <p:cNvPr id="14" name="Text 10"/>
          <p:cNvSpPr/>
          <p:nvPr/>
        </p:nvSpPr>
        <p:spPr>
          <a:xfrm>
            <a:off x="714375" y="2066330"/>
            <a:ext cx="3571875" cy="141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444444"/>
                </a:solidFill>
              </a:rPr>
              <a:t>In ERC-4337, if a UserOperation's actual gas usage is significantly lower than its limit, the EntryPoint charges a </a:t>
            </a:r>
            <a:r>
              <a:rPr lang="en-US" sz="1000" b="1" dirty="0">
                <a:solidFill>
                  <a:srgbClr val="444444"/>
                </a:solidFill>
              </a:rPr>
              <a:t>10% penalty</a:t>
            </a:r>
            <a:r>
              <a:rPr lang="en-US" sz="1050" dirty="0">
                <a:solidFill>
                  <a:srgbClr val="444444"/>
                </a:solidFill>
              </a:rPr>
              <a:t> on the unused gas. 
 Attackers exploit this by setting </a:t>
            </a:r>
            <a:r>
              <a:rPr lang="en-US" sz="1000" b="1" dirty="0">
                <a:solidFill>
                  <a:srgbClr val="444444"/>
                </a:solidFill>
              </a:rPr>
              <a:t>massive gas limits</a:t>
            </a:r>
            <a:r>
              <a:rPr lang="en-US" sz="1050" dirty="0">
                <a:solidFill>
                  <a:srgbClr val="444444"/>
                </a:solidFill>
              </a:rPr>
              <a:t> for simple operations, forcing the Paymaster to pay high penalties for "nothing."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14875" y="1535906"/>
            <a:ext cx="3857625" cy="2723555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714875" y="1535906"/>
            <a:ext cx="3857625" cy="42863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565356" y="1535906"/>
            <a:ext cx="7144" cy="272355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14875" y="4252317"/>
            <a:ext cx="3857625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14875" y="1535906"/>
            <a:ext cx="7144" cy="272355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715393"/>
            <a:ext cx="200025" cy="2000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72075" y="1678781"/>
            <a:ext cx="123757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Gas Capping</a:t>
            </a:r>
            <a:endParaRPr lang="en-US" sz="1397" dirty="0"/>
          </a:p>
        </p:txBody>
      </p:sp>
      <p:sp>
        <p:nvSpPr>
          <p:cNvPr id="22" name="Text 17"/>
          <p:cNvSpPr/>
          <p:nvPr/>
        </p:nvSpPr>
        <p:spPr>
          <a:xfrm>
            <a:off x="4857750" y="2066330"/>
            <a:ext cx="3571875" cy="1213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The Paymaster enforces a strict </a:t>
            </a:r>
            <a:r>
              <a:rPr lang="en-US" sz="1100" b="1" dirty="0">
                <a:solidFill>
                  <a:srgbClr val="444444"/>
                </a:solidFill>
              </a:rPr>
              <a:t>Max Gas Limit</a:t>
            </a:r>
            <a:r>
              <a:rPr lang="en-US" sz="1200" dirty="0">
                <a:solidFill>
                  <a:srgbClr val="444444"/>
                </a:solidFill>
              </a:rPr>
              <a:t> per transaction type. 
 Transactions exceeding this cap are rejected during validation, preventing the Paymaster from being exposed to inflated penalty costs.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71500" y="4402336"/>
            <a:ext cx="8001000" cy="59828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714375" y="4584502"/>
            <a:ext cx="153071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Security Outcome</a:t>
            </a:r>
            <a:endParaRPr lang="en-US" sz="1193" dirty="0"/>
          </a:p>
        </p:txBody>
      </p:sp>
      <p:sp>
        <p:nvSpPr>
          <p:cNvPr id="25" name="Text 20"/>
          <p:cNvSpPr/>
          <p:nvPr/>
        </p:nvSpPr>
        <p:spPr>
          <a:xfrm>
            <a:off x="4846755" y="4545211"/>
            <a:ext cx="358287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366F1"/>
                </a:solidFill>
              </a:rPr>
              <a:t>Zero Exposure to Penalty Spam</a:t>
            </a:r>
            <a:endParaRPr lang="en-US" sz="1602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8672A5-B5F1-BF52-0E37-0C7BE34EB978}"/>
              </a:ext>
            </a:extLst>
          </p:cNvPr>
          <p:cNvSpPr txBox="1"/>
          <p:nvPr/>
        </p:nvSpPr>
        <p:spPr>
          <a:xfrm>
            <a:off x="8661197" y="4889584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9358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28625" y="1350169"/>
            <a:ext cx="8286750" cy="1428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Methodology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428625" y="662583"/>
            <a:ext cx="828675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Comparative Security Analysis</a:t>
            </a:r>
            <a:endParaRPr lang="en-US" sz="2862" dirty="0"/>
          </a:p>
        </p:txBody>
      </p:sp>
      <p:sp>
        <p:nvSpPr>
          <p:cNvPr id="7" name="Shape 4"/>
          <p:cNvSpPr/>
          <p:nvPr/>
        </p:nvSpPr>
        <p:spPr>
          <a:xfrm>
            <a:off x="428625" y="1464469"/>
            <a:ext cx="4079081" cy="15609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28625" y="1464469"/>
            <a:ext cx="4079081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00563" y="1464469"/>
            <a:ext cx="7144" cy="156090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8625" y="3018234"/>
            <a:ext cx="4079081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8625" y="1464469"/>
            <a:ext cx="42863" cy="156090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8" y="1632347"/>
            <a:ext cx="200025" cy="2000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0113" y="1612702"/>
            <a:ext cx="183178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Attack Vector Testing</a:t>
            </a:r>
            <a:endParaRPr lang="en-US" sz="1193" dirty="0"/>
          </a:p>
        </p:txBody>
      </p:sp>
      <p:sp>
        <p:nvSpPr>
          <p:cNvPr id="14" name="Text 10"/>
          <p:cNvSpPr/>
          <p:nvPr/>
        </p:nvSpPr>
        <p:spPr>
          <a:xfrm>
            <a:off x="557213" y="1952030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700088" y="1953816"/>
            <a:ext cx="22784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Systematic injection of spam UserOps</a:t>
            </a:r>
            <a:endParaRPr lang="en-US" sz="942" dirty="0"/>
          </a:p>
        </p:txBody>
      </p:sp>
      <p:sp>
        <p:nvSpPr>
          <p:cNvPr id="16" name="Text 12"/>
          <p:cNvSpPr/>
          <p:nvPr/>
        </p:nvSpPr>
        <p:spPr>
          <a:xfrm>
            <a:off x="557213" y="2189197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17" name="Text 13"/>
          <p:cNvSpPr/>
          <p:nvPr/>
        </p:nvSpPr>
        <p:spPr>
          <a:xfrm>
            <a:off x="700088" y="2190983"/>
            <a:ext cx="20374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Gas penalty exploitation attempts</a:t>
            </a:r>
            <a:endParaRPr lang="en-US" sz="942" dirty="0"/>
          </a:p>
        </p:txBody>
      </p:sp>
      <p:sp>
        <p:nvSpPr>
          <p:cNvPr id="18" name="Text 14"/>
          <p:cNvSpPr/>
          <p:nvPr/>
        </p:nvSpPr>
        <p:spPr>
          <a:xfrm>
            <a:off x="557213" y="2426364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19" name="Text 15"/>
          <p:cNvSpPr/>
          <p:nvPr/>
        </p:nvSpPr>
        <p:spPr>
          <a:xfrm>
            <a:off x="700088" y="2428149"/>
            <a:ext cx="15318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PostOp failure simulation</a:t>
            </a:r>
            <a:endParaRPr lang="en-US" sz="942" dirty="0"/>
          </a:p>
        </p:txBody>
      </p:sp>
      <p:sp>
        <p:nvSpPr>
          <p:cNvPr id="20" name="Shape 16"/>
          <p:cNvSpPr/>
          <p:nvPr/>
        </p:nvSpPr>
        <p:spPr>
          <a:xfrm>
            <a:off x="4636294" y="1464469"/>
            <a:ext cx="4079081" cy="15609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636294" y="1464469"/>
            <a:ext cx="4079081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708231" y="1464469"/>
            <a:ext cx="7144" cy="156090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636294" y="3018234"/>
            <a:ext cx="4079081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636294" y="1464469"/>
            <a:ext cx="42863" cy="1560909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456" y="1632347"/>
            <a:ext cx="200025" cy="20002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07781" y="1612702"/>
            <a:ext cx="148408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Gas Cost Analysis</a:t>
            </a:r>
            <a:endParaRPr lang="en-US" sz="1193" dirty="0"/>
          </a:p>
        </p:txBody>
      </p:sp>
      <p:sp>
        <p:nvSpPr>
          <p:cNvPr id="27" name="Text 22"/>
          <p:cNvSpPr/>
          <p:nvPr/>
        </p:nvSpPr>
        <p:spPr>
          <a:xfrm>
            <a:off x="4764881" y="1952030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28" name="Text 23"/>
          <p:cNvSpPr/>
          <p:nvPr/>
        </p:nvSpPr>
        <p:spPr>
          <a:xfrm>
            <a:off x="4907756" y="1953816"/>
            <a:ext cx="21283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Total ETH consumed during attacks</a:t>
            </a:r>
            <a:endParaRPr lang="en-US" sz="942" dirty="0"/>
          </a:p>
        </p:txBody>
      </p:sp>
      <p:sp>
        <p:nvSpPr>
          <p:cNvPr id="29" name="Text 24"/>
          <p:cNvSpPr/>
          <p:nvPr/>
        </p:nvSpPr>
        <p:spPr>
          <a:xfrm>
            <a:off x="4764881" y="2189197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30" name="Text 25"/>
          <p:cNvSpPr/>
          <p:nvPr/>
        </p:nvSpPr>
        <p:spPr>
          <a:xfrm>
            <a:off x="4907756" y="2190983"/>
            <a:ext cx="16097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Cost per operation metrics</a:t>
            </a:r>
            <a:endParaRPr lang="en-US" sz="942" dirty="0"/>
          </a:p>
        </p:txBody>
      </p:sp>
      <p:sp>
        <p:nvSpPr>
          <p:cNvPr id="31" name="Text 26"/>
          <p:cNvSpPr/>
          <p:nvPr/>
        </p:nvSpPr>
        <p:spPr>
          <a:xfrm>
            <a:off x="4764881" y="2426364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32" name="Text 27"/>
          <p:cNvSpPr/>
          <p:nvPr/>
        </p:nvSpPr>
        <p:spPr>
          <a:xfrm>
            <a:off x="4907756" y="2428149"/>
            <a:ext cx="14835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Penalty charges tracking</a:t>
            </a:r>
            <a:endParaRPr lang="en-US" sz="942" dirty="0"/>
          </a:p>
        </p:txBody>
      </p:sp>
      <p:sp>
        <p:nvSpPr>
          <p:cNvPr id="33" name="Shape 28"/>
          <p:cNvSpPr/>
          <p:nvPr/>
        </p:nvSpPr>
        <p:spPr>
          <a:xfrm>
            <a:off x="428625" y="3153966"/>
            <a:ext cx="4079081" cy="15609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428625" y="3153966"/>
            <a:ext cx="4079081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4500563" y="3153966"/>
            <a:ext cx="7144" cy="156090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428625" y="4707731"/>
            <a:ext cx="4079081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428625" y="3153966"/>
            <a:ext cx="42863" cy="1560909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88" y="3321844"/>
            <a:ext cx="200025" cy="200025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00113" y="3302198"/>
            <a:ext cx="174452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Simulation Accuracy</a:t>
            </a:r>
            <a:endParaRPr lang="en-US" sz="1193" dirty="0"/>
          </a:p>
        </p:txBody>
      </p:sp>
      <p:sp>
        <p:nvSpPr>
          <p:cNvPr id="40" name="Text 34"/>
          <p:cNvSpPr/>
          <p:nvPr/>
        </p:nvSpPr>
        <p:spPr>
          <a:xfrm>
            <a:off x="557213" y="3641527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41" name="Text 35"/>
          <p:cNvSpPr/>
          <p:nvPr/>
        </p:nvSpPr>
        <p:spPr>
          <a:xfrm>
            <a:off x="700088" y="3643313"/>
            <a:ext cx="20922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Off-chain vs. On-chain parity check</a:t>
            </a:r>
            <a:endParaRPr lang="en-US" sz="942" dirty="0"/>
          </a:p>
        </p:txBody>
      </p:sp>
      <p:sp>
        <p:nvSpPr>
          <p:cNvPr id="42" name="Text 36"/>
          <p:cNvSpPr/>
          <p:nvPr/>
        </p:nvSpPr>
        <p:spPr>
          <a:xfrm>
            <a:off x="557213" y="3878693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43" name="Text 37"/>
          <p:cNvSpPr/>
          <p:nvPr/>
        </p:nvSpPr>
        <p:spPr>
          <a:xfrm>
            <a:off x="700088" y="3880479"/>
            <a:ext cx="1752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Unexpected revert frequency</a:t>
            </a:r>
            <a:endParaRPr lang="en-US" sz="942" dirty="0"/>
          </a:p>
        </p:txBody>
      </p:sp>
      <p:sp>
        <p:nvSpPr>
          <p:cNvPr id="44" name="Text 38"/>
          <p:cNvSpPr/>
          <p:nvPr/>
        </p:nvSpPr>
        <p:spPr>
          <a:xfrm>
            <a:off x="557213" y="4115860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45" name="Text 39"/>
          <p:cNvSpPr/>
          <p:nvPr/>
        </p:nvSpPr>
        <p:spPr>
          <a:xfrm>
            <a:off x="700088" y="4117646"/>
            <a:ext cx="14862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Gas estimation precision</a:t>
            </a:r>
            <a:endParaRPr lang="en-US" sz="942" dirty="0"/>
          </a:p>
        </p:txBody>
      </p:sp>
      <p:sp>
        <p:nvSpPr>
          <p:cNvPr id="46" name="Shape 40"/>
          <p:cNvSpPr/>
          <p:nvPr/>
        </p:nvSpPr>
        <p:spPr>
          <a:xfrm>
            <a:off x="4636294" y="3153966"/>
            <a:ext cx="4079081" cy="15609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1"/>
          <p:cNvSpPr/>
          <p:nvPr/>
        </p:nvSpPr>
        <p:spPr>
          <a:xfrm>
            <a:off x="4636294" y="3153966"/>
            <a:ext cx="4079081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2"/>
          <p:cNvSpPr/>
          <p:nvPr/>
        </p:nvSpPr>
        <p:spPr>
          <a:xfrm>
            <a:off x="8708231" y="3153966"/>
            <a:ext cx="7144" cy="156090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3"/>
          <p:cNvSpPr/>
          <p:nvPr/>
        </p:nvSpPr>
        <p:spPr>
          <a:xfrm>
            <a:off x="4636294" y="4707731"/>
            <a:ext cx="4079081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4"/>
          <p:cNvSpPr/>
          <p:nvPr/>
        </p:nvSpPr>
        <p:spPr>
          <a:xfrm>
            <a:off x="4636294" y="3153966"/>
            <a:ext cx="42863" cy="156090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5958" y="3321844"/>
            <a:ext cx="175022" cy="200025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5107781" y="3302198"/>
            <a:ext cx="167987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Operational Impact</a:t>
            </a:r>
            <a:endParaRPr lang="en-US" sz="1193" dirty="0"/>
          </a:p>
        </p:txBody>
      </p:sp>
      <p:sp>
        <p:nvSpPr>
          <p:cNvPr id="53" name="Text 46"/>
          <p:cNvSpPr/>
          <p:nvPr/>
        </p:nvSpPr>
        <p:spPr>
          <a:xfrm>
            <a:off x="4764881" y="3641527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54" name="Text 47"/>
          <p:cNvSpPr/>
          <p:nvPr/>
        </p:nvSpPr>
        <p:spPr>
          <a:xfrm>
            <a:off x="4907756" y="3643313"/>
            <a:ext cx="17389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Authorization service latency</a:t>
            </a:r>
            <a:endParaRPr lang="en-US" sz="942" dirty="0"/>
          </a:p>
        </p:txBody>
      </p:sp>
      <p:sp>
        <p:nvSpPr>
          <p:cNvPr id="55" name="Text 48"/>
          <p:cNvSpPr/>
          <p:nvPr/>
        </p:nvSpPr>
        <p:spPr>
          <a:xfrm>
            <a:off x="4764881" y="3878693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56" name="Text 49"/>
          <p:cNvSpPr/>
          <p:nvPr/>
        </p:nvSpPr>
        <p:spPr>
          <a:xfrm>
            <a:off x="4907756" y="3880479"/>
            <a:ext cx="16293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False positive blocking rate</a:t>
            </a:r>
            <a:endParaRPr lang="en-US" sz="942" dirty="0"/>
          </a:p>
        </p:txBody>
      </p:sp>
      <p:sp>
        <p:nvSpPr>
          <p:cNvPr id="57" name="Text 50"/>
          <p:cNvSpPr/>
          <p:nvPr/>
        </p:nvSpPr>
        <p:spPr>
          <a:xfrm>
            <a:off x="4764881" y="4115860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58" name="Text 51"/>
          <p:cNvSpPr/>
          <p:nvPr/>
        </p:nvSpPr>
        <p:spPr>
          <a:xfrm>
            <a:off x="4907756" y="4117646"/>
            <a:ext cx="19515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User experience friction analysis</a:t>
            </a:r>
            <a:endParaRPr lang="en-US" sz="942" dirty="0"/>
          </a:p>
        </p:txBody>
      </p:sp>
      <p:sp>
        <p:nvSpPr>
          <p:cNvPr id="59" name="Shape 52"/>
          <p:cNvSpPr/>
          <p:nvPr/>
        </p:nvSpPr>
        <p:spPr>
          <a:xfrm>
            <a:off x="4393406" y="2911077"/>
            <a:ext cx="342900" cy="3429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0562" y="3012878"/>
            <a:ext cx="142875" cy="142875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12A2D0B3-C2AE-BE3C-7516-23E0309E0461}"/>
              </a:ext>
            </a:extLst>
          </p:cNvPr>
          <p:cNvSpPr txBox="1"/>
          <p:nvPr/>
        </p:nvSpPr>
        <p:spPr>
          <a:xfrm>
            <a:off x="8661197" y="4889584"/>
            <a:ext cx="5564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25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10501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464469"/>
            <a:ext cx="8001000" cy="1428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Research Roadmap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71500" y="662583"/>
            <a:ext cx="800100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Project Timeline</a:t>
            </a:r>
            <a:endParaRPr lang="en-US" sz="2862" dirty="0"/>
          </a:p>
        </p:txBody>
      </p:sp>
      <p:sp>
        <p:nvSpPr>
          <p:cNvPr id="7" name="Text 4"/>
          <p:cNvSpPr/>
          <p:nvPr/>
        </p:nvSpPr>
        <p:spPr>
          <a:xfrm>
            <a:off x="1468626" y="2216348"/>
            <a:ext cx="348878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366F1"/>
                </a:solidFill>
              </a:rPr>
              <a:t>Week 1-2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1494277" y="2602111"/>
            <a:ext cx="285750" cy="285750"/>
          </a:xfrm>
          <a:prstGeom prst="rect">
            <a:avLst/>
          </a:prstGeom>
          <a:solidFill>
            <a:srgbClr val="6366F1"/>
          </a:solidFill>
          <a:ln w="54864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94700" y="258801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1279763" y="3017599"/>
            <a:ext cx="7265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Research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714361" y="3574813"/>
            <a:ext cx="185737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</a:rPr>
              <a:t>Literature review, vulnerability mapping, and security specification design.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3421242" y="2216348"/>
            <a:ext cx="348878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366F1"/>
                </a:solidFill>
              </a:rPr>
              <a:t>Week 3-4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3446931" y="2602111"/>
            <a:ext cx="285750" cy="285750"/>
          </a:xfrm>
          <a:prstGeom prst="rect">
            <a:avLst/>
          </a:prstGeom>
          <a:solidFill>
            <a:srgbClr val="FFFFFF"/>
          </a:solidFill>
          <a:ln w="54864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58676" y="2578175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2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2681919" y="3039664"/>
            <a:ext cx="1857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Default ERC-4337 Implementation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2661119" y="3573661"/>
            <a:ext cx="185737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</a:rPr>
              <a:t>Establishing a baseline infrastructure with standard Paymaster logic.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73857" y="2216348"/>
            <a:ext cx="348878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366F1"/>
                </a:solidFill>
              </a:rPr>
              <a:t>Week 5-6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5405419" y="2602111"/>
            <a:ext cx="285750" cy="285750"/>
          </a:xfrm>
          <a:prstGeom prst="rect">
            <a:avLst/>
          </a:prstGeom>
          <a:solidFill>
            <a:srgbClr val="FFFFFF"/>
          </a:solidFill>
          <a:ln w="54864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05419" y="2578751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3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619604" y="3029233"/>
            <a:ext cx="1857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Secured Paymaster Implementation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4619605" y="3573661"/>
            <a:ext cx="185737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</a:rPr>
              <a:t>Integrating defensive modifications: Quotas, Whitelisting, and Gas Capping.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7326473" y="2216348"/>
            <a:ext cx="348878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366F1"/>
                </a:solidFill>
              </a:rPr>
              <a:t>Week 7-9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7332725" y="2409230"/>
            <a:ext cx="3363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0B981"/>
                </a:solidFill>
              </a:rPr>
              <a:t>Final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7358035" y="2602111"/>
            <a:ext cx="285750" cy="285750"/>
          </a:xfrm>
          <a:prstGeom prst="rect">
            <a:avLst/>
          </a:prstGeom>
          <a:solidFill>
            <a:srgbClr val="FFFFFF"/>
          </a:solidFill>
          <a:ln w="54864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358035" y="2602111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4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6637603" y="3029233"/>
            <a:ext cx="1726611" cy="5658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Attack Strategies, Comparative Analysis</a:t>
            </a:r>
            <a:br>
              <a:rPr lang="en-US" sz="1090" b="1" dirty="0">
                <a:solidFill>
                  <a:srgbClr val="111111"/>
                </a:solidFill>
              </a:rPr>
            </a:br>
            <a:r>
              <a:rPr lang="en-US" sz="1090" b="1" dirty="0">
                <a:solidFill>
                  <a:srgbClr val="111111"/>
                </a:solidFill>
              </a:rPr>
              <a:t>&amp; Documentation</a:t>
            </a:r>
            <a:endParaRPr lang="en-US" sz="1090" dirty="0"/>
          </a:p>
        </p:txBody>
      </p:sp>
      <p:sp>
        <p:nvSpPr>
          <p:cNvPr id="27" name="Text 24"/>
          <p:cNvSpPr/>
          <p:nvPr/>
        </p:nvSpPr>
        <p:spPr>
          <a:xfrm>
            <a:off x="6572222" y="3573661"/>
            <a:ext cx="18573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</a:rPr>
              <a:t>Stress testing and benchmarking baseline vs. secured versions.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571500" y="4196953"/>
            <a:ext cx="8001000" cy="51792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57250" y="4368403"/>
            <a:ext cx="33406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888888"/>
                </a:solidFill>
              </a:rPr>
              <a:t>Current Phase:</a:t>
            </a:r>
            <a:r>
              <a:rPr lang="en-US" sz="834" dirty="0">
                <a:solidFill>
                  <a:srgbClr val="FFFFFF"/>
                </a:solidFill>
              </a:rPr>
              <a:t> </a:t>
            </a:r>
            <a:r>
              <a:rPr lang="en-US" sz="885" b="1" dirty="0">
                <a:solidFill>
                  <a:srgbClr val="FFFFFF"/>
                </a:solidFill>
              </a:rPr>
              <a:t>Phase 1 - Theoretical Security Analysis</a:t>
            </a:r>
            <a:endParaRPr lang="en-US" sz="834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738" y="4398764"/>
            <a:ext cx="100013" cy="1143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BB67620-0760-524A-ED21-1A5D08AF68C2}"/>
              </a:ext>
            </a:extLst>
          </p:cNvPr>
          <p:cNvSpPr txBox="1"/>
          <p:nvPr/>
        </p:nvSpPr>
        <p:spPr>
          <a:xfrm>
            <a:off x="8661197" y="4889584"/>
            <a:ext cx="5564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10501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464469"/>
            <a:ext cx="8001000" cy="1428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Impact &amp; Significance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71500" y="662583"/>
            <a:ext cx="800100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Enabling Secure Scale</a:t>
            </a:r>
            <a:endParaRPr lang="en-US" sz="2862" dirty="0"/>
          </a:p>
        </p:txBody>
      </p:sp>
      <p:sp>
        <p:nvSpPr>
          <p:cNvPr id="7" name="Shape 4"/>
          <p:cNvSpPr/>
          <p:nvPr/>
        </p:nvSpPr>
        <p:spPr>
          <a:xfrm>
            <a:off x="571500" y="1750219"/>
            <a:ext cx="7143750" cy="5943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1500" y="1750219"/>
            <a:ext cx="28575" cy="59432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1500" y="1750219"/>
            <a:ext cx="7143750" cy="594327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04" dirty="0">
                <a:solidFill>
                  <a:srgbClr val="111111"/>
                </a:solidFill>
              </a:rPr>
              <a:t>Transforming paymasters from experimental technology into </a:t>
            </a:r>
            <a:r>
              <a:rPr lang="en-US" sz="1602" b="1" dirty="0">
                <a:solidFill>
                  <a:srgbClr val="6366F1"/>
                </a:solidFill>
              </a:rPr>
              <a:t>production-grade infrastructure</a:t>
            </a:r>
            <a:r>
              <a:rPr lang="en-US" sz="1704" dirty="0">
                <a:solidFill>
                  <a:srgbClr val="111111"/>
                </a:solidFill>
              </a:rPr>
              <a:t> for high-value applications.</a:t>
            </a:r>
            <a:endParaRPr lang="en-US" sz="1704" dirty="0"/>
          </a:p>
        </p:txBody>
      </p:sp>
      <p:sp>
        <p:nvSpPr>
          <p:cNvPr id="10" name="Shape 7"/>
          <p:cNvSpPr/>
          <p:nvPr/>
        </p:nvSpPr>
        <p:spPr>
          <a:xfrm>
            <a:off x="571500" y="2487420"/>
            <a:ext cx="2524116" cy="18934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1500" y="2487420"/>
            <a:ext cx="2524116" cy="4286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088472" y="2487420"/>
            <a:ext cx="7144" cy="189348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71500" y="4373761"/>
            <a:ext cx="2524116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1500" y="2487420"/>
            <a:ext cx="7144" cy="189348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3" y="2689231"/>
            <a:ext cx="28575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8663" y="3071422"/>
            <a:ext cx="22097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Gaming</a:t>
            </a:r>
            <a:endParaRPr lang="en-US" sz="1090" dirty="0"/>
          </a:p>
        </p:txBody>
      </p:sp>
      <p:sp>
        <p:nvSpPr>
          <p:cNvPr id="17" name="Text 13"/>
          <p:cNvSpPr/>
          <p:nvPr/>
        </p:nvSpPr>
        <p:spPr>
          <a:xfrm>
            <a:off x="728663" y="3342884"/>
            <a:ext cx="22097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Enables truly gasless onboarding. New players start immediately without wallet friction, with risk strictly bounded by quotas.</a:t>
            </a:r>
            <a:endParaRPr lang="en-US" sz="834" dirty="0"/>
          </a:p>
        </p:txBody>
      </p:sp>
      <p:sp>
        <p:nvSpPr>
          <p:cNvPr id="18" name="Shape 14"/>
          <p:cNvSpPr/>
          <p:nvPr/>
        </p:nvSpPr>
        <p:spPr>
          <a:xfrm>
            <a:off x="3309928" y="2487420"/>
            <a:ext cx="2524116" cy="18934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309928" y="2487420"/>
            <a:ext cx="2524116" cy="42863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826900" y="2487420"/>
            <a:ext cx="7144" cy="189348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309928" y="4373761"/>
            <a:ext cx="2524116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309928" y="2487420"/>
            <a:ext cx="7144" cy="189348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091" y="2689231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467091" y="3071422"/>
            <a:ext cx="22097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DeFi Protocols</a:t>
            </a:r>
            <a:endParaRPr lang="en-US" sz="1090" dirty="0"/>
          </a:p>
        </p:txBody>
      </p:sp>
      <p:sp>
        <p:nvSpPr>
          <p:cNvPr id="25" name="Text 20"/>
          <p:cNvSpPr/>
          <p:nvPr/>
        </p:nvSpPr>
        <p:spPr>
          <a:xfrm>
            <a:off x="3467091" y="3342884"/>
            <a:ext cx="22097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Sponsors complex multi-step operations. Per-dApp limits prevent any single protocol from exhausting the shared deposit.</a:t>
            </a:r>
            <a:endParaRPr lang="en-US" sz="834" dirty="0"/>
          </a:p>
        </p:txBody>
      </p:sp>
      <p:sp>
        <p:nvSpPr>
          <p:cNvPr id="26" name="Shape 21"/>
          <p:cNvSpPr/>
          <p:nvPr/>
        </p:nvSpPr>
        <p:spPr>
          <a:xfrm>
            <a:off x="6048356" y="2487420"/>
            <a:ext cx="2524144" cy="18934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048356" y="2487420"/>
            <a:ext cx="2524144" cy="4286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8565356" y="2487420"/>
            <a:ext cx="7144" cy="189348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6048356" y="4373761"/>
            <a:ext cx="2524144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6048356" y="2487420"/>
            <a:ext cx="7144" cy="189348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5519" y="2689231"/>
            <a:ext cx="171450" cy="2286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205519" y="3071422"/>
            <a:ext cx="22098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Enterprise</a:t>
            </a:r>
            <a:endParaRPr lang="en-US" sz="1090" dirty="0"/>
          </a:p>
        </p:txBody>
      </p:sp>
      <p:sp>
        <p:nvSpPr>
          <p:cNvPr id="33" name="Text 27"/>
          <p:cNvSpPr/>
          <p:nvPr/>
        </p:nvSpPr>
        <p:spPr>
          <a:xfrm>
            <a:off x="6205519" y="3342884"/>
            <a:ext cx="22098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</a:rPr>
              <a:t>Provides the cost predictability and compliance controls required for corporate treasury management.</a:t>
            </a:r>
            <a:endParaRPr lang="en-US" sz="834" dirty="0"/>
          </a:p>
        </p:txBody>
      </p:sp>
      <p:sp>
        <p:nvSpPr>
          <p:cNvPr id="34" name="Shape 28"/>
          <p:cNvSpPr/>
          <p:nvPr/>
        </p:nvSpPr>
        <p:spPr>
          <a:xfrm>
            <a:off x="571500" y="4495205"/>
            <a:ext cx="8001000" cy="505420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42950" y="4687193"/>
            <a:ext cx="11801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888888"/>
                </a:solidFill>
              </a:rPr>
              <a:t>Strategic Outcome</a:t>
            </a:r>
            <a:endParaRPr lang="en-US" sz="683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9922" y="4683621"/>
            <a:ext cx="142875" cy="14287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628522" y="4638080"/>
            <a:ext cx="277252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95% Reduction in Attack Surface</a:t>
            </a:r>
            <a:endParaRPr lang="en-US" sz="1193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864F77-2280-3A06-B206-D70F323CDFDC}"/>
              </a:ext>
            </a:extLst>
          </p:cNvPr>
          <p:cNvSpPr txBox="1"/>
          <p:nvPr/>
        </p:nvSpPr>
        <p:spPr>
          <a:xfrm>
            <a:off x="8661197" y="4889584"/>
            <a:ext cx="5564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33553" y="1526977"/>
            <a:ext cx="4876893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6800"/>
              </a:lnSpc>
              <a:buNone/>
            </a:pPr>
            <a:r>
              <a:rPr lang="en-US" sz="6218" b="1" kern="0" spc="-3" dirty="0">
                <a:solidFill>
                  <a:srgbClr val="111111"/>
                </a:solidFill>
              </a:rPr>
              <a:t>THANK YOU</a:t>
            </a:r>
            <a:endParaRPr lang="en-US" sz="6218" dirty="0"/>
          </a:p>
        </p:txBody>
      </p:sp>
      <p:sp>
        <p:nvSpPr>
          <p:cNvPr id="4" name="Text 1"/>
          <p:cNvSpPr/>
          <p:nvPr/>
        </p:nvSpPr>
        <p:spPr>
          <a:xfrm>
            <a:off x="3813299" y="2527102"/>
            <a:ext cx="1517403" cy="3955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592" kern="0" spc="2" dirty="0">
                <a:solidFill>
                  <a:srgbClr val="6366F1"/>
                </a:solidFill>
              </a:rPr>
              <a:t>Questions?</a:t>
            </a:r>
            <a:endParaRPr lang="en-US" sz="2592" dirty="0"/>
          </a:p>
        </p:txBody>
      </p:sp>
      <p:sp>
        <p:nvSpPr>
          <p:cNvPr id="9" name="Shape 4"/>
          <p:cNvSpPr/>
          <p:nvPr/>
        </p:nvSpPr>
        <p:spPr>
          <a:xfrm>
            <a:off x="571500" y="4572000"/>
            <a:ext cx="8001000" cy="286603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571500" y="4647009"/>
            <a:ext cx="1455463" cy="1096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888888"/>
                </a:solidFill>
              </a:rPr>
              <a:t>Securing ERC-4337 Paymasters Proposal</a:t>
            </a:r>
            <a:endParaRPr lang="en-US" sz="683" dirty="0"/>
          </a:p>
        </p:txBody>
      </p:sp>
      <p:sp>
        <p:nvSpPr>
          <p:cNvPr id="11" name="Text 6"/>
          <p:cNvSpPr/>
          <p:nvPr/>
        </p:nvSpPr>
        <p:spPr>
          <a:xfrm>
            <a:off x="7708609" y="4647009"/>
            <a:ext cx="8638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366F1"/>
                </a:solidFill>
              </a:rPr>
              <a:t>February 2026</a:t>
            </a:r>
            <a:endParaRPr lang="en-US" sz="683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739A9C-76B5-D610-3073-8DC74C4BF379}"/>
              </a:ext>
            </a:extLst>
          </p:cNvPr>
          <p:cNvSpPr txBox="1"/>
          <p:nvPr/>
        </p:nvSpPr>
        <p:spPr>
          <a:xfrm>
            <a:off x="8661197" y="4889584"/>
            <a:ext cx="5564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1166</Words>
  <Application>Microsoft Macintosh PowerPoint</Application>
  <PresentationFormat>On-screen Show (16:9)</PresentationFormat>
  <Paragraphs>230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Rahul Ankola</cp:lastModifiedBy>
  <cp:revision>5</cp:revision>
  <dcterms:created xsi:type="dcterms:W3CDTF">2026-02-11T15:47:10Z</dcterms:created>
  <dcterms:modified xsi:type="dcterms:W3CDTF">2026-02-19T00:55:42Z</dcterms:modified>
</cp:coreProperties>
</file>