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86" r:id="rId3"/>
    <p:sldId id="287" r:id="rId4"/>
    <p:sldId id="275" r:id="rId5"/>
    <p:sldId id="283" r:id="rId6"/>
    <p:sldId id="276" r:id="rId7"/>
    <p:sldId id="278" r:id="rId8"/>
    <p:sldId id="279" r:id="rId9"/>
    <p:sldId id="284" r:id="rId10"/>
    <p:sldId id="288" r:id="rId11"/>
    <p:sldId id="262" r:id="rId12"/>
    <p:sldId id="280" r:id="rId13"/>
    <p:sldId id="281" r:id="rId14"/>
    <p:sldId id="282" r:id="rId15"/>
    <p:sldId id="265" r:id="rId16"/>
    <p:sldId id="267" r:id="rId17"/>
    <p:sldId id="28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5B5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74"/>
    <p:restoredTop sz="96983"/>
  </p:normalViewPr>
  <p:slideViewPr>
    <p:cSldViewPr snapToGrid="0" snapToObjects="1">
      <p:cViewPr varScale="1">
        <p:scale>
          <a:sx n="205" d="100"/>
          <a:sy n="205" d="100"/>
        </p:scale>
        <p:origin x="20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8505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operation -&gt; bundler processes multiple operations -&gt; </a:t>
            </a:r>
            <a:r>
              <a:rPr lang="en-US" dirty="0" err="1"/>
              <a:t>entrypoint</a:t>
            </a:r>
            <a:r>
              <a:rPr lang="en-US" dirty="0"/>
              <a:t> invoked -&gt; validates and calls paymaster -&gt; executes -&gt; postop: gas costs settled</a:t>
            </a:r>
            <a:br>
              <a:rPr lang="en-US" dirty="0"/>
            </a:br>
            <a:r>
              <a:rPr lang="en-US" dirty="0"/>
              <a:t>COMPONENTS: User operation, Bundler ,</a:t>
            </a:r>
            <a:r>
              <a:rPr lang="en-US" dirty="0" err="1"/>
              <a:t>Entrypoint</a:t>
            </a:r>
            <a:r>
              <a:rPr lang="en-US" dirty="0"/>
              <a:t>, smart wallet, paymaster,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33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E0445-1588-4945-2E4A-B7710A74B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356DEC-FC6F-71A6-146A-8F50095EB6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55E42A-08AA-09D2-F347-950398307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CB267-D903-A49F-8726-7F8DCB03CB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28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5BE83-1302-3B4C-4946-A998EEDBA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4BA1D-0858-DA43-09C2-98282A660E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91D7C9-FBDE-BD98-73D5-F4652BC65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0FC41-F3AD-C7E4-C67A-EC3141C133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56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ACA62-65E7-6508-7655-7D4784E59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861CEE-5639-A13F-1B9F-3AC138654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3B18D-24F7-7457-CA44-9C432A2C3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4AECF-B2AD-E0BD-4118-21BD33FCF7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113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114300"/>
            <a:ext cx="57150" cy="4914900"/>
          </a:xfrm>
          <a:prstGeom prst="rect">
            <a:avLst/>
          </a:prstGeom>
          <a:solidFill>
            <a:srgbClr val="6366F1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429500" y="114300"/>
            <a:ext cx="1333500" cy="1333500"/>
          </a:xfrm>
          <a:prstGeom prst="roundRect">
            <a:avLst>
              <a:gd name="adj" fmla="val 342857"/>
            </a:avLst>
          </a:prstGeom>
          <a:solidFill>
            <a:srgbClr val="ECECE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0" y="1333500"/>
            <a:ext cx="4953000" cy="4953000"/>
          </a:xfrm>
          <a:prstGeom prst="roundRect">
            <a:avLst>
              <a:gd name="adj" fmla="val 92308"/>
            </a:avLst>
          </a:prstGeom>
          <a:noFill/>
          <a:ln w="28575">
            <a:solidFill>
              <a:srgbClr val="ECECEC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38200" y="923925"/>
            <a:ext cx="7791450" cy="1109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68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Securing ERC-4337</a:t>
            </a:r>
            <a:endParaRPr lang="en-US" sz="4200" dirty="0"/>
          </a:p>
          <a:p>
            <a:pPr marL="0" indent="0">
              <a:lnSpc>
                <a:spcPts val="4368"/>
              </a:lnSpc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Paymasters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38200" y="2299990"/>
            <a:ext cx="7791450" cy="682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88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Defense Framework Against Abuse and Deposit Drain Attacks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3401616"/>
            <a:ext cx="7791450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12"/>
              </a:lnSpc>
              <a:buNone/>
            </a:pPr>
            <a:r>
              <a:rPr lang="en-US" sz="16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Presenter:</a:t>
            </a:r>
            <a:r>
              <a:rPr lang="en-US" sz="16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Rahulkumar Ankola
</a:t>
            </a:r>
            <a:r>
              <a:rPr lang="en-US" sz="16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</a:t>
            </a:r>
            <a:r>
              <a:rPr lang="en-US" sz="16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April 2026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568482" y="4848225"/>
            <a:ext cx="3927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15"/>
              </a:lnSpc>
              <a:buNone/>
            </a:pPr>
            <a:r>
              <a:rPr lang="en-US" sz="1350" dirty="0">
                <a:solidFill>
                  <a:srgbClr val="A5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1/17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428625"/>
            <a:ext cx="8001000" cy="10501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464469"/>
            <a:ext cx="8001000" cy="1428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The Foundation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71500" y="662583"/>
            <a:ext cx="800100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What is ERC-4337 and Paymasters?</a:t>
            </a:r>
            <a:endParaRPr lang="en-US" sz="2862" dirty="0"/>
          </a:p>
        </p:txBody>
      </p:sp>
      <p:sp>
        <p:nvSpPr>
          <p:cNvPr id="7" name="Shape 4"/>
          <p:cNvSpPr/>
          <p:nvPr/>
        </p:nvSpPr>
        <p:spPr>
          <a:xfrm>
            <a:off x="571500" y="1635919"/>
            <a:ext cx="3786188" cy="2692412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1500" y="1635919"/>
            <a:ext cx="3771900" cy="4286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42950" y="2444948"/>
            <a:ext cx="34432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111"/>
                </a:solidFill>
              </a:rPr>
              <a:t>ERC-4337</a:t>
            </a:r>
            <a:endParaRPr lang="en-US" sz="1602" dirty="0"/>
          </a:p>
        </p:txBody>
      </p:sp>
      <p:sp>
        <p:nvSpPr>
          <p:cNvPr id="11" name="Text 7"/>
          <p:cNvSpPr/>
          <p:nvPr/>
        </p:nvSpPr>
        <p:spPr>
          <a:xfrm>
            <a:off x="742950" y="2792027"/>
            <a:ext cx="3443288" cy="1436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An Ethereum standard for Account Abstraction</a:t>
            </a:r>
          </a:p>
          <a:p>
            <a: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Removes the need for traditional EOAs (Externally Owned Accounts)</a:t>
            </a:r>
          </a:p>
          <a:p>
            <a: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 err="1"/>
              <a:t>Indroduces</a:t>
            </a:r>
            <a:r>
              <a:rPr lang="en-US" sz="1400" dirty="0"/>
              <a:t> smart contract wallets</a:t>
            </a:r>
          </a:p>
          <a:p>
            <a: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Enables features like: Gas sponsorship, social recovery, custom signature schemes</a:t>
            </a:r>
          </a:p>
        </p:txBody>
      </p:sp>
      <p:sp>
        <p:nvSpPr>
          <p:cNvPr id="13" name="Text 8"/>
          <p:cNvSpPr/>
          <p:nvPr/>
        </p:nvSpPr>
        <p:spPr>
          <a:xfrm>
            <a:off x="928688" y="3660391"/>
            <a:ext cx="65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15" name="Text 9"/>
          <p:cNvSpPr/>
          <p:nvPr/>
        </p:nvSpPr>
        <p:spPr>
          <a:xfrm>
            <a:off x="928688" y="3901492"/>
            <a:ext cx="65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16" name="Shape 10"/>
          <p:cNvSpPr/>
          <p:nvPr/>
        </p:nvSpPr>
        <p:spPr>
          <a:xfrm>
            <a:off x="4786313" y="1635919"/>
            <a:ext cx="3786188" cy="2678125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Shape 11"/>
          <p:cNvSpPr/>
          <p:nvPr/>
        </p:nvSpPr>
        <p:spPr>
          <a:xfrm>
            <a:off x="4786313" y="1635919"/>
            <a:ext cx="3771900" cy="42863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4957763" y="2444948"/>
            <a:ext cx="344328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11111"/>
                </a:solidFill>
              </a:rPr>
              <a:t>Paymasters</a:t>
            </a:r>
            <a:endParaRPr lang="en-US" sz="1602" dirty="0"/>
          </a:p>
        </p:txBody>
      </p:sp>
      <p:sp>
        <p:nvSpPr>
          <p:cNvPr id="20" name="Text 13"/>
          <p:cNvSpPr/>
          <p:nvPr/>
        </p:nvSpPr>
        <p:spPr>
          <a:xfrm>
            <a:off x="4957763" y="2900363"/>
            <a:ext cx="3443288" cy="122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A smart contract that pays gas fees on behalf of users.</a:t>
            </a:r>
          </a:p>
          <a:p>
            <a: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Validates transaction before execution</a:t>
            </a:r>
          </a:p>
          <a:p>
            <a: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Settle gas costs with bundler after execution.</a:t>
            </a:r>
          </a:p>
          <a:p>
            <a:pPr marL="171450" indent="-171450" algn="l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444444"/>
                </a:solidFill>
              </a:rPr>
              <a:t>Enables features like: Gasless transactions, Pay with ERC-20 tokens</a:t>
            </a:r>
            <a:endParaRPr lang="en-US" sz="1400" dirty="0"/>
          </a:p>
        </p:txBody>
      </p:sp>
      <p:sp>
        <p:nvSpPr>
          <p:cNvPr id="22" name="Text 14"/>
          <p:cNvSpPr/>
          <p:nvPr/>
        </p:nvSpPr>
        <p:spPr>
          <a:xfrm>
            <a:off x="5143500" y="3660391"/>
            <a:ext cx="65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24" name="Text 15"/>
          <p:cNvSpPr/>
          <p:nvPr/>
        </p:nvSpPr>
        <p:spPr>
          <a:xfrm>
            <a:off x="5143500" y="3901492"/>
            <a:ext cx="65" cy="1340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834" dirty="0"/>
          </a:p>
        </p:txBody>
      </p:sp>
      <p:sp>
        <p:nvSpPr>
          <p:cNvPr id="25" name="Shape 16"/>
          <p:cNvSpPr/>
          <p:nvPr/>
        </p:nvSpPr>
        <p:spPr>
          <a:xfrm>
            <a:off x="571500" y="4428344"/>
            <a:ext cx="8001000" cy="31432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17"/>
          <p:cNvSpPr/>
          <p:nvPr/>
        </p:nvSpPr>
        <p:spPr>
          <a:xfrm>
            <a:off x="1014887" y="4517641"/>
            <a:ext cx="3098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FFFF"/>
                </a:solidFill>
              </a:rPr>
              <a:t>User</a:t>
            </a:r>
            <a:endParaRPr lang="en-US" sz="683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040099" y="4514069"/>
            <a:ext cx="103584" cy="142875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2859007" y="4517641"/>
            <a:ext cx="7870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FFFF"/>
                </a:solidFill>
              </a:rPr>
              <a:t>EntryPoint</a:t>
            </a:r>
            <a:endParaRPr lang="en-US" sz="683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361399" y="4514069"/>
            <a:ext cx="103584" cy="142875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180307" y="4517641"/>
            <a:ext cx="7101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6366F1"/>
                </a:solidFill>
              </a:rPr>
              <a:t>Paymaster</a:t>
            </a:r>
            <a:endParaRPr lang="en-US" sz="683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605792" y="4514069"/>
            <a:ext cx="103584" cy="142875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7424700" y="4517641"/>
            <a:ext cx="70438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FFFFFF"/>
                </a:solidFill>
              </a:rPr>
              <a:t>Execution</a:t>
            </a:r>
            <a:endParaRPr lang="en-US" sz="683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8FDD35C-7C8F-AED8-70E9-A3A49B7E20F0}"/>
              </a:ext>
            </a:extLst>
          </p:cNvPr>
          <p:cNvSpPr txBox="1"/>
          <p:nvPr/>
        </p:nvSpPr>
        <p:spPr>
          <a:xfrm>
            <a:off x="8661197" y="4889584"/>
            <a:ext cx="48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428625"/>
            <a:ext cx="8001000" cy="102155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71500" y="1435894"/>
            <a:ext cx="8001000" cy="1428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Deployment Context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571500" y="662583"/>
            <a:ext cx="3728970" cy="4623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Where is ERC4337 used?</a:t>
            </a:r>
            <a:endParaRPr lang="en-US" sz="2862" dirty="0"/>
          </a:p>
        </p:txBody>
      </p:sp>
      <p:sp>
        <p:nvSpPr>
          <p:cNvPr id="7" name="Text 4"/>
          <p:cNvSpPr/>
          <p:nvPr/>
        </p:nvSpPr>
        <p:spPr>
          <a:xfrm>
            <a:off x="571500" y="1628775"/>
            <a:ext cx="10337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888888"/>
                </a:solidFill>
              </a:rPr>
              <a:t>Active Networks: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1733810" y="1578769"/>
            <a:ext cx="765470" cy="235744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733810" y="1578769"/>
            <a:ext cx="765470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888888"/>
                </a:solidFill>
              </a:rPr>
              <a:t>Ethereum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2613580" y="1578769"/>
            <a:ext cx="749564" cy="235744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613580" y="1578769"/>
            <a:ext cx="749564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888888"/>
                </a:solidFill>
              </a:rPr>
              <a:t>Arbitrum</a:t>
            </a:r>
            <a:endParaRPr lang="en-US" sz="727" dirty="0"/>
          </a:p>
        </p:txBody>
      </p:sp>
      <p:sp>
        <p:nvSpPr>
          <p:cNvPr id="12" name="Shape 9"/>
          <p:cNvSpPr/>
          <p:nvPr/>
        </p:nvSpPr>
        <p:spPr>
          <a:xfrm>
            <a:off x="3477444" y="1578769"/>
            <a:ext cx="741276" cy="235744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77444" y="1578769"/>
            <a:ext cx="741276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888888"/>
                </a:solidFill>
              </a:rPr>
              <a:t>Optimism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4333019" y="1578769"/>
            <a:ext cx="705306" cy="235744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33019" y="1578769"/>
            <a:ext cx="705306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888888"/>
                </a:solidFill>
              </a:rPr>
              <a:t>Polygon</a:t>
            </a:r>
            <a:endParaRPr lang="en-US" sz="727" dirty="0"/>
          </a:p>
        </p:txBody>
      </p:sp>
      <p:sp>
        <p:nvSpPr>
          <p:cNvPr id="16" name="Shape 13"/>
          <p:cNvSpPr/>
          <p:nvPr/>
        </p:nvSpPr>
        <p:spPr>
          <a:xfrm>
            <a:off x="5152625" y="1578769"/>
            <a:ext cx="453768" cy="235744"/>
          </a:xfrm>
          <a:prstGeom prst="rect">
            <a:avLst/>
          </a:prstGeom>
          <a:solidFill>
            <a:srgbClr val="F9FAFB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152625" y="1578769"/>
            <a:ext cx="453768" cy="235744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888888"/>
                </a:solidFill>
              </a:rPr>
              <a:t>Base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571500" y="1943100"/>
            <a:ext cx="2552691" cy="2689622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71500" y="1943100"/>
            <a:ext cx="2538375" cy="2857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42950" y="2578894"/>
            <a:ext cx="22097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Web3 Gaming</a:t>
            </a:r>
            <a:endParaRPr lang="en-US" sz="1193" dirty="0"/>
          </a:p>
        </p:txBody>
      </p:sp>
      <p:sp>
        <p:nvSpPr>
          <p:cNvPr id="22" name="Text 18"/>
          <p:cNvSpPr/>
          <p:nvPr/>
        </p:nvSpPr>
        <p:spPr>
          <a:xfrm>
            <a:off x="742950" y="2898577"/>
            <a:ext cx="2209791" cy="142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Sponsors millions of micro-transactions to enable seamless gameplay without wallet friction.</a:t>
            </a:r>
            <a:br>
              <a:rPr lang="en-US" sz="1000" dirty="0">
                <a:solidFill>
                  <a:srgbClr val="444444"/>
                </a:solidFill>
              </a:rPr>
            </a:br>
            <a:endParaRPr lang="en-US" sz="1000" dirty="0">
              <a:solidFill>
                <a:srgbClr val="444444"/>
              </a:solidFill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Examples: </a:t>
            </a:r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44444"/>
                </a:solidFill>
              </a:rPr>
              <a:t>Immutable</a:t>
            </a:r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44444"/>
                </a:solidFill>
              </a:rPr>
              <a:t>Sequence</a:t>
            </a:r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44444"/>
                </a:solidFill>
              </a:rPr>
              <a:t>Gods Unchained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828675" y="4055864"/>
            <a:ext cx="65" cy="97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endParaRPr lang="en-US" sz="621" dirty="0"/>
          </a:p>
        </p:txBody>
      </p:sp>
      <p:sp>
        <p:nvSpPr>
          <p:cNvPr id="26" name="Text 22"/>
          <p:cNvSpPr/>
          <p:nvPr/>
        </p:nvSpPr>
        <p:spPr>
          <a:xfrm>
            <a:off x="828675" y="4200525"/>
            <a:ext cx="65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885" dirty="0"/>
          </a:p>
        </p:txBody>
      </p:sp>
      <p:sp>
        <p:nvSpPr>
          <p:cNvPr id="27" name="Shape 23"/>
          <p:cNvSpPr/>
          <p:nvPr/>
        </p:nvSpPr>
        <p:spPr>
          <a:xfrm>
            <a:off x="3295641" y="1943100"/>
            <a:ext cx="2552691" cy="2689622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24"/>
          <p:cNvSpPr/>
          <p:nvPr/>
        </p:nvSpPr>
        <p:spPr>
          <a:xfrm>
            <a:off x="3295641" y="1943100"/>
            <a:ext cx="2538375" cy="2857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3467091" y="2578894"/>
            <a:ext cx="220979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DeFi Protocols</a:t>
            </a:r>
            <a:endParaRPr lang="en-US" sz="1193" dirty="0"/>
          </a:p>
        </p:txBody>
      </p:sp>
      <p:sp>
        <p:nvSpPr>
          <p:cNvPr id="31" name="Text 26"/>
          <p:cNvSpPr/>
          <p:nvPr/>
        </p:nvSpPr>
        <p:spPr>
          <a:xfrm>
            <a:off x="3467091" y="2898577"/>
            <a:ext cx="2209791" cy="1240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Enables complex multi-step operations and token-based gas payments for traders.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1000" dirty="0">
              <a:solidFill>
                <a:srgbClr val="444444"/>
              </a:solidFill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/>
              <a:t>Examples: </a:t>
            </a:r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/>
              <a:t>Safe</a:t>
            </a:r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 err="1"/>
              <a:t>Instadapp</a:t>
            </a:r>
            <a:endParaRPr lang="en-US" sz="1000" dirty="0"/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 err="1"/>
              <a:t>Biconomy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3552816" y="4055864"/>
            <a:ext cx="65" cy="97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endParaRPr lang="en-US" sz="621" dirty="0"/>
          </a:p>
        </p:txBody>
      </p:sp>
      <p:sp>
        <p:nvSpPr>
          <p:cNvPr id="35" name="Text 30"/>
          <p:cNvSpPr/>
          <p:nvPr/>
        </p:nvSpPr>
        <p:spPr>
          <a:xfrm>
            <a:off x="3552816" y="4200525"/>
            <a:ext cx="65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885" dirty="0"/>
          </a:p>
        </p:txBody>
      </p:sp>
      <p:sp>
        <p:nvSpPr>
          <p:cNvPr id="36" name="Shape 31"/>
          <p:cNvSpPr/>
          <p:nvPr/>
        </p:nvSpPr>
        <p:spPr>
          <a:xfrm>
            <a:off x="6019781" y="1901428"/>
            <a:ext cx="2552719" cy="2689622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2"/>
          <p:cNvSpPr/>
          <p:nvPr/>
        </p:nvSpPr>
        <p:spPr>
          <a:xfrm>
            <a:off x="6019781" y="1943100"/>
            <a:ext cx="2538431" cy="28575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6191231" y="2578894"/>
            <a:ext cx="220981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Enterprise</a:t>
            </a:r>
            <a:endParaRPr lang="en-US" sz="1193" dirty="0"/>
          </a:p>
        </p:txBody>
      </p:sp>
      <p:sp>
        <p:nvSpPr>
          <p:cNvPr id="40" name="Text 34"/>
          <p:cNvSpPr/>
          <p:nvPr/>
        </p:nvSpPr>
        <p:spPr>
          <a:xfrm>
            <a:off x="6181098" y="2871191"/>
            <a:ext cx="2209819" cy="1425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Corporate treasury management with programmable spending limits and controls.</a:t>
            </a:r>
          </a:p>
          <a:p>
            <a:pPr marL="0" indent="0" algn="l">
              <a:lnSpc>
                <a:spcPts val="1400"/>
              </a:lnSpc>
              <a:buNone/>
            </a:pPr>
            <a:endParaRPr lang="en-US" sz="1000" dirty="0">
              <a:solidFill>
                <a:srgbClr val="444444"/>
              </a:solidFill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444444"/>
                </a:solidFill>
              </a:rPr>
              <a:t>Examples:</a:t>
            </a:r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44444"/>
                </a:solidFill>
              </a:rPr>
              <a:t>Coinbase</a:t>
            </a:r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444444"/>
                </a:solidFill>
              </a:rPr>
              <a:t>Alchemy</a:t>
            </a:r>
          </a:p>
          <a:p>
            <a:pPr marL="171450" indent="-171450" algn="l">
              <a:lnSpc>
                <a:spcPts val="1400"/>
              </a:lnSpc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rgbClr val="444444"/>
                </a:solidFill>
              </a:rPr>
              <a:t>ZeroDev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6276956" y="4055864"/>
            <a:ext cx="65" cy="979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endParaRPr lang="en-US" sz="621" dirty="0"/>
          </a:p>
        </p:txBody>
      </p:sp>
      <p:sp>
        <p:nvSpPr>
          <p:cNvPr id="44" name="Text 38"/>
          <p:cNvSpPr/>
          <p:nvPr/>
        </p:nvSpPr>
        <p:spPr>
          <a:xfrm>
            <a:off x="6276956" y="4200525"/>
            <a:ext cx="65" cy="1453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885" dirty="0"/>
          </a:p>
        </p:txBody>
      </p:sp>
      <p:sp>
        <p:nvSpPr>
          <p:cNvPr id="45" name="Shape 39"/>
          <p:cNvSpPr/>
          <p:nvPr/>
        </p:nvSpPr>
        <p:spPr>
          <a:xfrm>
            <a:off x="571500" y="4861322"/>
            <a:ext cx="8001000" cy="2678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0"/>
          <p:cNvSpPr/>
          <p:nvPr/>
        </p:nvSpPr>
        <p:spPr>
          <a:xfrm>
            <a:off x="571500" y="4861322"/>
            <a:ext cx="8001000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571500" y="4861322"/>
            <a:ext cx="8001000" cy="26789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Security failure leads to </a:t>
            </a:r>
            <a:r>
              <a:rPr lang="en-US" sz="885" b="1" dirty="0">
                <a:solidFill>
                  <a:srgbClr val="6366F1"/>
                </a:solidFill>
              </a:rPr>
              <a:t>direct financial loss</a:t>
            </a:r>
            <a:r>
              <a:rPr lang="en-US" sz="942" dirty="0">
                <a:solidFill>
                  <a:srgbClr val="444444"/>
                </a:solidFill>
              </a:rPr>
              <a:t> and </a:t>
            </a:r>
            <a:r>
              <a:rPr lang="en-US" sz="885" b="1" dirty="0">
                <a:solidFill>
                  <a:srgbClr val="6366F1"/>
                </a:solidFill>
              </a:rPr>
              <a:t>service disruption</a:t>
            </a:r>
            <a:r>
              <a:rPr lang="en-US" sz="942" dirty="0">
                <a:solidFill>
                  <a:srgbClr val="444444"/>
                </a:solidFill>
              </a:rPr>
              <a:t> for thousands of users.</a:t>
            </a:r>
            <a:endParaRPr lang="en-US" sz="942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E01166-B486-6027-B21A-EBAB06D29B01}"/>
              </a:ext>
            </a:extLst>
          </p:cNvPr>
          <p:cNvSpPr txBox="1"/>
          <p:nvPr/>
        </p:nvSpPr>
        <p:spPr>
          <a:xfrm>
            <a:off x="8661197" y="4889584"/>
            <a:ext cx="48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21C4EA8-6B83-4338-913D-D75D3C4F3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3862AA0B-A6FF-1B36-CB3D-076EEDD9A809}"/>
              </a:ext>
            </a:extLst>
          </p:cNvPr>
          <p:cNvSpPr/>
          <p:nvPr/>
        </p:nvSpPr>
        <p:spPr>
          <a:xfrm>
            <a:off x="253122" y="509798"/>
            <a:ext cx="2343114" cy="28024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spc="1">
                <a:latin typeface="+mj-lt"/>
                <a:ea typeface="+mj-ea"/>
                <a:cs typeface="+mj-cs"/>
              </a:rPr>
              <a:t>Coinbase transaction screenshots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62324" y="0"/>
            <a:ext cx="1834788" cy="5777808"/>
            <a:chOff x="329184" y="1"/>
            <a:chExt cx="524256" cy="5777808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5813" y="509798"/>
            <a:ext cx="5761719" cy="424715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22E7C1-5327-53A1-941D-E7DFB2815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074" y="729176"/>
            <a:ext cx="1750932" cy="37858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87AA1A1-8887-2912-6FDC-C36C7F8E2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531" y="729176"/>
            <a:ext cx="1750932" cy="37858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AE7FCD-80CD-8EE7-9743-171A30C34A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212" y="1834707"/>
            <a:ext cx="557843" cy="1057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C00C3D-BBDD-4A24-5BDA-5CA9F0588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589" y="1834706"/>
            <a:ext cx="557843" cy="1057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08EA831-667E-1E3A-2E99-71A02938B0F6}"/>
              </a:ext>
            </a:extLst>
          </p:cNvPr>
          <p:cNvSpPr txBox="1"/>
          <p:nvPr/>
        </p:nvSpPr>
        <p:spPr>
          <a:xfrm>
            <a:off x="8654619" y="4889584"/>
            <a:ext cx="48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4/17</a:t>
            </a:r>
          </a:p>
        </p:txBody>
      </p:sp>
    </p:spTree>
    <p:extLst>
      <p:ext uri="{BB962C8B-B14F-4D97-AF65-F5344CB8AC3E}">
        <p14:creationId xmlns:p14="http://schemas.microsoft.com/office/powerpoint/2010/main" val="3984599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09CEB-FB87-A98B-78AB-38DD4296C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549005A9-7B81-CEC2-6C8D-8811DE541ACA}"/>
              </a:ext>
            </a:extLst>
          </p:cNvPr>
          <p:cNvSpPr/>
          <p:nvPr/>
        </p:nvSpPr>
        <p:spPr>
          <a:xfrm>
            <a:off x="298971" y="400784"/>
            <a:ext cx="2363852" cy="402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How does an ERC4337 architecture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work with Baseline Paymaster?</a:t>
            </a:r>
            <a:endParaRPr lang="en-US" sz="1269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D59F4FA-F910-E4A4-97C0-55D6F4B8B5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211" t="24710" r="5780" b="12770"/>
          <a:stretch>
            <a:fillRect/>
          </a:stretch>
        </p:blipFill>
        <p:spPr>
          <a:xfrm>
            <a:off x="3715680" y="400784"/>
            <a:ext cx="5129349" cy="45718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C762CC-5917-D657-D53A-64004A1DDF89}"/>
              </a:ext>
            </a:extLst>
          </p:cNvPr>
          <p:cNvSpPr txBox="1"/>
          <p:nvPr/>
        </p:nvSpPr>
        <p:spPr>
          <a:xfrm>
            <a:off x="8661197" y="4889584"/>
            <a:ext cx="48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5/17</a:t>
            </a:r>
          </a:p>
        </p:txBody>
      </p:sp>
    </p:spTree>
    <p:extLst>
      <p:ext uri="{BB962C8B-B14F-4D97-AF65-F5344CB8AC3E}">
        <p14:creationId xmlns:p14="http://schemas.microsoft.com/office/powerpoint/2010/main" val="144015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6E83F-2913-1395-F98E-5A213C023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542F2F83-047E-2B1A-06A5-E0265CAC0E8A}"/>
              </a:ext>
            </a:extLst>
          </p:cNvPr>
          <p:cNvSpPr/>
          <p:nvPr/>
        </p:nvSpPr>
        <p:spPr>
          <a:xfrm>
            <a:off x="298971" y="400784"/>
            <a:ext cx="2363852" cy="402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How does an ERC4337 architecture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work with Secured Paymaster</a:t>
            </a:r>
            <a:endParaRPr lang="en-US" sz="1269" dirty="0"/>
          </a:p>
        </p:txBody>
      </p:sp>
      <p:pic>
        <p:nvPicPr>
          <p:cNvPr id="5" name="Picture 4" descr="A diagram of a flowchart&#10;&#10;AI-generated content may be incorrect.">
            <a:extLst>
              <a:ext uri="{FF2B5EF4-FFF2-40B4-BE49-F238E27FC236}">
                <a16:creationId xmlns:a16="http://schemas.microsoft.com/office/drawing/2014/main" id="{D5984E76-D173-D722-8ECD-0636B0103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234" y="322407"/>
            <a:ext cx="4847795" cy="46677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46AF67-FA31-38D9-84AC-A02F9CF45523}"/>
              </a:ext>
            </a:extLst>
          </p:cNvPr>
          <p:cNvSpPr txBox="1"/>
          <p:nvPr/>
        </p:nvSpPr>
        <p:spPr>
          <a:xfrm>
            <a:off x="298971" y="1271452"/>
            <a:ext cx="350084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500" dirty="0"/>
              <a:t>Enforcing Max Gas Cap Limit</a:t>
            </a:r>
          </a:p>
          <a:p>
            <a:pPr marL="342900" indent="-342900" algn="just">
              <a:buAutoNum type="arabicPeriod"/>
            </a:pPr>
            <a:endParaRPr lang="en-US" sz="15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/>
              <a:t>The Paymaster enforces a strict </a:t>
            </a:r>
            <a:r>
              <a:rPr lang="en-US" sz="1500" b="1" dirty="0"/>
              <a:t>Max Gas Limit</a:t>
            </a:r>
            <a:r>
              <a:rPr lang="en-US" sz="1500" dirty="0"/>
              <a:t> per transaction type.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500" dirty="0"/>
              <a:t> Transactions exceeding this cap are rejected during validation, preventing the Paymaster from being exposed to inflated penalty costs.</a:t>
            </a:r>
          </a:p>
          <a:p>
            <a:r>
              <a:rPr lang="en-US" sz="15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A8006F-3ADC-DEA2-CF10-A01121532C6D}"/>
              </a:ext>
            </a:extLst>
          </p:cNvPr>
          <p:cNvSpPr txBox="1"/>
          <p:nvPr/>
        </p:nvSpPr>
        <p:spPr>
          <a:xfrm>
            <a:off x="8661197" y="4889584"/>
            <a:ext cx="48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6/17</a:t>
            </a:r>
          </a:p>
        </p:txBody>
      </p:sp>
    </p:spTree>
    <p:extLst>
      <p:ext uri="{BB962C8B-B14F-4D97-AF65-F5344CB8AC3E}">
        <p14:creationId xmlns:p14="http://schemas.microsoft.com/office/powerpoint/2010/main" val="305147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36D3A-2121-A30B-ACAE-105963495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77E81674-7AF3-2A9C-CC82-BD4983F12815}"/>
              </a:ext>
            </a:extLst>
          </p:cNvPr>
          <p:cNvSpPr/>
          <p:nvPr/>
        </p:nvSpPr>
        <p:spPr>
          <a:xfrm>
            <a:off x="298971" y="400784"/>
            <a:ext cx="2363852" cy="402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How does an ERC4337 architecture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work with Secured Paymaster</a:t>
            </a:r>
            <a:endParaRPr lang="en-US" sz="1269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5FB6F1-DA4F-82E6-A9A1-C98FA69B0D7D}"/>
              </a:ext>
            </a:extLst>
          </p:cNvPr>
          <p:cNvSpPr txBox="1"/>
          <p:nvPr/>
        </p:nvSpPr>
        <p:spPr>
          <a:xfrm>
            <a:off x="298971" y="1271452"/>
            <a:ext cx="3500846" cy="1874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/>
              <a:t>2.    Target contract Whitelisting</a:t>
            </a:r>
          </a:p>
          <a:p>
            <a:pPr marL="342900" indent="-342900" algn="just">
              <a:buAutoNum type="arabicPeriod"/>
            </a:pPr>
            <a:endParaRPr lang="en-US" sz="1500" dirty="0"/>
          </a:p>
          <a:p>
            <a:pPr marL="285750" indent="-2857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Maintain a </a:t>
            </a:r>
            <a:r>
              <a:rPr lang="en-US" sz="1500" b="1" dirty="0"/>
              <a:t>whitelist</a:t>
            </a:r>
            <a:r>
              <a:rPr lang="en-US" sz="1500" dirty="0"/>
              <a:t> of allowed target contract addresses.</a:t>
            </a:r>
          </a:p>
          <a:p>
            <a:pPr marL="285750" indent="-285750">
              <a:lnSpc>
                <a:spcPts val="17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Blocks unauthorized </a:t>
            </a:r>
            <a:r>
              <a:rPr lang="en-US" sz="1500" dirty="0" err="1"/>
              <a:t>dApps</a:t>
            </a:r>
            <a:r>
              <a:rPr lang="en-US" sz="1500" dirty="0"/>
              <a:t> while still sponsoring </a:t>
            </a:r>
            <a:r>
              <a:rPr lang="en-US" sz="1500" b="1" dirty="0"/>
              <a:t>approved operations</a:t>
            </a:r>
            <a:r>
              <a:rPr lang="en-US" sz="1500" dirty="0"/>
              <a:t>.</a:t>
            </a:r>
          </a:p>
          <a:p>
            <a:pPr marL="342900" indent="-342900">
              <a:lnSpc>
                <a:spcPts val="1700"/>
              </a:lnSpc>
              <a:buFont typeface="Arial" panose="020B0604020202020204" pitchFamily="34" charset="0"/>
              <a:buChar char="•"/>
            </a:pPr>
            <a:endParaRPr lang="en-US" sz="1500" dirty="0"/>
          </a:p>
          <a:p>
            <a:r>
              <a:rPr lang="en-US" sz="1500" dirty="0"/>
              <a:t> </a:t>
            </a:r>
          </a:p>
        </p:txBody>
      </p:sp>
      <p:pic>
        <p:nvPicPr>
          <p:cNvPr id="4" name="Picture 3" descr="A diagram of a flowchart&#10;&#10;AI-generated content may be incorrect.">
            <a:extLst>
              <a:ext uri="{FF2B5EF4-FFF2-40B4-BE49-F238E27FC236}">
                <a16:creationId xmlns:a16="http://schemas.microsoft.com/office/drawing/2014/main" id="{125FD004-1D7A-A93D-A77A-F75CAA6F3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863" y="400784"/>
            <a:ext cx="4894166" cy="4591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18D22C-7727-EFF9-EEFC-7EE5D7AA7041}"/>
              </a:ext>
            </a:extLst>
          </p:cNvPr>
          <p:cNvSpPr txBox="1"/>
          <p:nvPr/>
        </p:nvSpPr>
        <p:spPr>
          <a:xfrm>
            <a:off x="8661197" y="4889584"/>
            <a:ext cx="48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7/17</a:t>
            </a:r>
          </a:p>
        </p:txBody>
      </p:sp>
    </p:spTree>
    <p:extLst>
      <p:ext uri="{BB962C8B-B14F-4D97-AF65-F5344CB8AC3E}">
        <p14:creationId xmlns:p14="http://schemas.microsoft.com/office/powerpoint/2010/main" val="1838526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9BC5-25D6-D2AF-D735-A88103924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8C36893F-8D00-A296-84A3-EA7C3CA45D11}"/>
              </a:ext>
            </a:extLst>
          </p:cNvPr>
          <p:cNvSpPr/>
          <p:nvPr/>
        </p:nvSpPr>
        <p:spPr>
          <a:xfrm>
            <a:off x="298971" y="400784"/>
            <a:ext cx="2363852" cy="402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How does an ERC4337 architecture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work with Secured Paymaster</a:t>
            </a:r>
            <a:endParaRPr lang="en-US" sz="1269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FFEFF7-10AF-8BB0-57EF-36BB125AEAD2}"/>
              </a:ext>
            </a:extLst>
          </p:cNvPr>
          <p:cNvSpPr txBox="1"/>
          <p:nvPr/>
        </p:nvSpPr>
        <p:spPr>
          <a:xfrm>
            <a:off x="298971" y="1018333"/>
            <a:ext cx="3500846" cy="4042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00"/>
              </a:lnSpc>
            </a:pPr>
            <a:r>
              <a:rPr lang="en-US" sz="1500" b="1" kern="0" spc="-1" dirty="0"/>
              <a:t>3. Quota &amp; Rate Limiting Architecture</a:t>
            </a:r>
            <a:endParaRPr lang="en-US" sz="1500" dirty="0"/>
          </a:p>
          <a:p>
            <a:pPr marL="342900" indent="-342900" algn="just">
              <a:buAutoNum type="arabicPeriod"/>
            </a:pP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 Strict cap (e.g., 0.01 ETH) on gas sponsorship per user address per day. Prevents individual attackers from draining the pool.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Global limits for specific applications. If a </a:t>
            </a:r>
            <a:r>
              <a:rPr lang="en-US" sz="1500" dirty="0" err="1"/>
              <a:t>dApp</a:t>
            </a:r>
            <a:r>
              <a:rPr lang="en-US" sz="1500" dirty="0"/>
              <a:t> is compromised, the damage is contained to its specific quota.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Signatures expire in 3 minutes. Mitigates replay attacks and limits the window for stolen signature exploitation.</a:t>
            </a:r>
          </a:p>
          <a:p>
            <a:endParaRPr lang="en-US" sz="1500" dirty="0"/>
          </a:p>
          <a:p>
            <a:endParaRPr lang="en-US" sz="1500" dirty="0"/>
          </a:p>
          <a:p>
            <a:endParaRPr lang="en-US" sz="1500" dirty="0"/>
          </a:p>
        </p:txBody>
      </p:sp>
      <p:pic>
        <p:nvPicPr>
          <p:cNvPr id="5" name="Picture 4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3ECBC5EB-9AD3-CDEB-6665-47D1A4178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154" y="400784"/>
            <a:ext cx="4827377" cy="45813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F6A17B-9E85-2838-487F-8D4B65145081}"/>
              </a:ext>
            </a:extLst>
          </p:cNvPr>
          <p:cNvSpPr txBox="1"/>
          <p:nvPr/>
        </p:nvSpPr>
        <p:spPr>
          <a:xfrm>
            <a:off x="8661197" y="4889584"/>
            <a:ext cx="48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8/17</a:t>
            </a:r>
          </a:p>
        </p:txBody>
      </p:sp>
    </p:spTree>
    <p:extLst>
      <p:ext uri="{BB962C8B-B14F-4D97-AF65-F5344CB8AC3E}">
        <p14:creationId xmlns:p14="http://schemas.microsoft.com/office/powerpoint/2010/main" val="4122469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06F40-E56F-AA2B-5E95-C45B2D01B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732399A2-4588-1B55-9542-B1A2D15065C0}"/>
              </a:ext>
            </a:extLst>
          </p:cNvPr>
          <p:cNvSpPr/>
          <p:nvPr/>
        </p:nvSpPr>
        <p:spPr>
          <a:xfrm>
            <a:off x="298971" y="400784"/>
            <a:ext cx="2363852" cy="402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How does an ERC4337 architecture </a:t>
            </a:r>
          </a:p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work with Secured Paymaster</a:t>
            </a:r>
            <a:endParaRPr lang="en-US" sz="1269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7C7107-C809-AE58-AED4-84A75E04DE83}"/>
              </a:ext>
            </a:extLst>
          </p:cNvPr>
          <p:cNvSpPr txBox="1"/>
          <p:nvPr/>
        </p:nvSpPr>
        <p:spPr>
          <a:xfrm>
            <a:off x="298971" y="1018333"/>
            <a:ext cx="3500846" cy="3072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00"/>
              </a:lnSpc>
            </a:pPr>
            <a:r>
              <a:rPr lang="en-US" sz="1500" b="1" kern="0" spc="-1" dirty="0"/>
              <a:t>3. Quota &amp; Rate Limiting Architecture</a:t>
            </a:r>
            <a:endParaRPr lang="en-US" sz="1500" dirty="0"/>
          </a:p>
          <a:p>
            <a:pPr marL="342900" indent="-342900" algn="just">
              <a:buAutoNum type="arabicPeriod"/>
            </a:pPr>
            <a:endParaRPr lang="en-US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/>
              <a:t>Components in sponsorship signature:</a:t>
            </a:r>
          </a:p>
          <a:p>
            <a:r>
              <a:rPr lang="en-US" sz="1200" dirty="0" err="1"/>
              <a:t>paymasterAddress</a:t>
            </a:r>
            <a:r>
              <a:rPr lang="en-US" sz="1500" dirty="0"/>
              <a:t>: </a:t>
            </a:r>
            <a:r>
              <a:rPr lang="en-US" sz="1200" dirty="0"/>
              <a:t>0x&lt;</a:t>
            </a:r>
            <a:r>
              <a:rPr lang="en-US" sz="1200" dirty="0" err="1"/>
              <a:t>SecuredPaymasterAddress</a:t>
            </a:r>
            <a:r>
              <a:rPr lang="en-US" sz="1200" dirty="0"/>
              <a:t>&gt;</a:t>
            </a:r>
          </a:p>
          <a:p>
            <a:r>
              <a:rPr lang="en-US" sz="1200" dirty="0" err="1"/>
              <a:t>chainId</a:t>
            </a:r>
            <a:r>
              <a:rPr lang="en-US" sz="1200" dirty="0"/>
              <a:t>: 11155111 (</a:t>
            </a:r>
            <a:r>
              <a:rPr lang="en-US" sz="1200" dirty="0" err="1"/>
              <a:t>Sepolia</a:t>
            </a:r>
            <a:r>
              <a:rPr lang="en-US" sz="1200" dirty="0"/>
              <a:t>)</a:t>
            </a:r>
          </a:p>
          <a:p>
            <a:r>
              <a:rPr lang="en-US" sz="1200" dirty="0" err="1"/>
              <a:t>virtualUserId</a:t>
            </a:r>
            <a:r>
              <a:rPr lang="en-US" sz="1200" dirty="0"/>
              <a:t>: 0x&lt;32-byte user id</a:t>
            </a:r>
          </a:p>
          <a:p>
            <a:r>
              <a:rPr lang="en-US" sz="1200" dirty="0" err="1"/>
              <a:t>validUntil</a:t>
            </a:r>
            <a:r>
              <a:rPr lang="en-US" sz="1200" dirty="0"/>
              <a:t>:  &lt;</a:t>
            </a:r>
            <a:r>
              <a:rPr lang="en-US" sz="1200" dirty="0" err="1"/>
              <a:t>unix</a:t>
            </a:r>
            <a:r>
              <a:rPr lang="en-US" sz="1200" dirty="0"/>
              <a:t> timestamp expiry&gt;</a:t>
            </a:r>
          </a:p>
          <a:p>
            <a:r>
              <a:rPr lang="en-US" sz="1200" dirty="0" err="1"/>
              <a:t>sponsorshipNonce</a:t>
            </a:r>
            <a:r>
              <a:rPr lang="en-US" sz="1200" dirty="0"/>
              <a:t>: &lt;unique nonce&gt;</a:t>
            </a:r>
          </a:p>
          <a:p>
            <a:r>
              <a:rPr lang="en-US" sz="1200" dirty="0" err="1"/>
              <a:t>sponsoredMaxCostWei</a:t>
            </a:r>
            <a:r>
              <a:rPr lang="en-US" sz="1200" dirty="0"/>
              <a:t>: &lt;max ETH-in-</a:t>
            </a:r>
            <a:r>
              <a:rPr lang="en-US" sz="1200" dirty="0" err="1"/>
              <a:t>wei</a:t>
            </a:r>
            <a:r>
              <a:rPr lang="en-US" sz="1200" dirty="0"/>
              <a:t> sponsor agrees to cover&gt;</a:t>
            </a:r>
          </a:p>
          <a:p>
            <a:endParaRPr lang="en-US" sz="1500" dirty="0"/>
          </a:p>
          <a:p>
            <a:endParaRPr lang="en-US" sz="1500" dirty="0"/>
          </a:p>
          <a:p>
            <a:endParaRPr lang="en-US" sz="1500" dirty="0"/>
          </a:p>
        </p:txBody>
      </p:sp>
      <p:pic>
        <p:nvPicPr>
          <p:cNvPr id="5" name="Picture 4" descr="A diagram of a process flow&#10;&#10;AI-generated content may be incorrect.">
            <a:extLst>
              <a:ext uri="{FF2B5EF4-FFF2-40B4-BE49-F238E27FC236}">
                <a16:creationId xmlns:a16="http://schemas.microsoft.com/office/drawing/2014/main" id="{D3EC4FCB-9002-96BC-672E-07FFE6E4C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2154" y="400784"/>
            <a:ext cx="4827377" cy="45813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58FAF3-4E9B-3F25-D689-9EA2125382E8}"/>
              </a:ext>
            </a:extLst>
          </p:cNvPr>
          <p:cNvSpPr txBox="1"/>
          <p:nvPr/>
        </p:nvSpPr>
        <p:spPr>
          <a:xfrm>
            <a:off x="8661197" y="4889584"/>
            <a:ext cx="4828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9/17</a:t>
            </a:r>
          </a:p>
        </p:txBody>
      </p:sp>
    </p:spTree>
    <p:extLst>
      <p:ext uri="{BB962C8B-B14F-4D97-AF65-F5344CB8AC3E}">
        <p14:creationId xmlns:p14="http://schemas.microsoft.com/office/powerpoint/2010/main" val="217221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28625" y="428625"/>
            <a:ext cx="8286750" cy="9358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28625" y="1350169"/>
            <a:ext cx="8286750" cy="14288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428625"/>
            <a:ext cx="8286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kern="0" spc="1" dirty="0">
                <a:solidFill>
                  <a:srgbClr val="6366F1"/>
                </a:solidFill>
              </a:rPr>
              <a:t>Methodology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428625" y="662583"/>
            <a:ext cx="8286750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1" dirty="0">
                <a:solidFill>
                  <a:srgbClr val="111111"/>
                </a:solidFill>
              </a:rPr>
              <a:t>Comparative Security Analysis</a:t>
            </a:r>
            <a:endParaRPr lang="en-US" sz="2862" dirty="0"/>
          </a:p>
        </p:txBody>
      </p:sp>
      <p:sp>
        <p:nvSpPr>
          <p:cNvPr id="8" name="Shape 5"/>
          <p:cNvSpPr/>
          <p:nvPr/>
        </p:nvSpPr>
        <p:spPr>
          <a:xfrm>
            <a:off x="428625" y="1464469"/>
            <a:ext cx="4079081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00563" y="1464469"/>
            <a:ext cx="7144" cy="156090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8625" y="3018234"/>
            <a:ext cx="4079081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8625" y="1464469"/>
            <a:ext cx="42863" cy="156090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8" y="1632347"/>
            <a:ext cx="200025" cy="2000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0113" y="1612702"/>
            <a:ext cx="183178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Attack Vector Testing</a:t>
            </a:r>
            <a:endParaRPr lang="en-US" sz="1193" dirty="0"/>
          </a:p>
        </p:txBody>
      </p:sp>
      <p:sp>
        <p:nvSpPr>
          <p:cNvPr id="14" name="Text 10"/>
          <p:cNvSpPr/>
          <p:nvPr/>
        </p:nvSpPr>
        <p:spPr>
          <a:xfrm>
            <a:off x="557213" y="1952030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15" name="Text 11"/>
          <p:cNvSpPr/>
          <p:nvPr/>
        </p:nvSpPr>
        <p:spPr>
          <a:xfrm>
            <a:off x="700088" y="1953816"/>
            <a:ext cx="227846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Systematic injection of spam UserOps</a:t>
            </a:r>
            <a:endParaRPr lang="en-US" sz="942" dirty="0"/>
          </a:p>
        </p:txBody>
      </p:sp>
      <p:sp>
        <p:nvSpPr>
          <p:cNvPr id="16" name="Text 12"/>
          <p:cNvSpPr/>
          <p:nvPr/>
        </p:nvSpPr>
        <p:spPr>
          <a:xfrm>
            <a:off x="557213" y="2189197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17" name="Text 13"/>
          <p:cNvSpPr/>
          <p:nvPr/>
        </p:nvSpPr>
        <p:spPr>
          <a:xfrm>
            <a:off x="700088" y="2190983"/>
            <a:ext cx="203747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Gas penalty exploitation attempts</a:t>
            </a:r>
            <a:endParaRPr lang="en-US" sz="942" dirty="0"/>
          </a:p>
        </p:txBody>
      </p:sp>
      <p:sp>
        <p:nvSpPr>
          <p:cNvPr id="18" name="Text 14"/>
          <p:cNvSpPr/>
          <p:nvPr/>
        </p:nvSpPr>
        <p:spPr>
          <a:xfrm>
            <a:off x="557213" y="2426364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19" name="Text 15"/>
          <p:cNvSpPr/>
          <p:nvPr/>
        </p:nvSpPr>
        <p:spPr>
          <a:xfrm>
            <a:off x="700088" y="2428149"/>
            <a:ext cx="15318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PostOp failure simulation</a:t>
            </a:r>
            <a:endParaRPr lang="en-US" sz="942" dirty="0"/>
          </a:p>
        </p:txBody>
      </p:sp>
      <p:sp>
        <p:nvSpPr>
          <p:cNvPr id="20" name="Shape 16"/>
          <p:cNvSpPr/>
          <p:nvPr/>
        </p:nvSpPr>
        <p:spPr>
          <a:xfrm>
            <a:off x="4636294" y="1464469"/>
            <a:ext cx="4079081" cy="15609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4636294" y="1464469"/>
            <a:ext cx="4079081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8708231" y="1464469"/>
            <a:ext cx="7144" cy="156090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636294" y="3018234"/>
            <a:ext cx="4079081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4636294" y="1464469"/>
            <a:ext cx="42863" cy="1560909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793456" y="1632347"/>
            <a:ext cx="200025" cy="20002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107781" y="1612702"/>
            <a:ext cx="148408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Gas Cost Analysis</a:t>
            </a:r>
            <a:endParaRPr lang="en-US" sz="1193" dirty="0"/>
          </a:p>
        </p:txBody>
      </p:sp>
      <p:sp>
        <p:nvSpPr>
          <p:cNvPr id="27" name="Text 22"/>
          <p:cNvSpPr/>
          <p:nvPr/>
        </p:nvSpPr>
        <p:spPr>
          <a:xfrm>
            <a:off x="4764881" y="1952030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28" name="Text 23"/>
          <p:cNvSpPr/>
          <p:nvPr/>
        </p:nvSpPr>
        <p:spPr>
          <a:xfrm>
            <a:off x="4907756" y="1953816"/>
            <a:ext cx="212839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Total ETH consumed during attacks</a:t>
            </a:r>
            <a:endParaRPr lang="en-US" sz="942" dirty="0"/>
          </a:p>
        </p:txBody>
      </p:sp>
      <p:sp>
        <p:nvSpPr>
          <p:cNvPr id="29" name="Text 24"/>
          <p:cNvSpPr/>
          <p:nvPr/>
        </p:nvSpPr>
        <p:spPr>
          <a:xfrm>
            <a:off x="4764881" y="2189197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30" name="Text 25"/>
          <p:cNvSpPr/>
          <p:nvPr/>
        </p:nvSpPr>
        <p:spPr>
          <a:xfrm>
            <a:off x="4907756" y="2190983"/>
            <a:ext cx="16097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Cost per operation metrics</a:t>
            </a:r>
            <a:endParaRPr lang="en-US" sz="942" dirty="0"/>
          </a:p>
        </p:txBody>
      </p:sp>
      <p:sp>
        <p:nvSpPr>
          <p:cNvPr id="31" name="Text 26"/>
          <p:cNvSpPr/>
          <p:nvPr/>
        </p:nvSpPr>
        <p:spPr>
          <a:xfrm>
            <a:off x="4764881" y="2426364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32" name="Text 27"/>
          <p:cNvSpPr/>
          <p:nvPr/>
        </p:nvSpPr>
        <p:spPr>
          <a:xfrm>
            <a:off x="4907756" y="2428149"/>
            <a:ext cx="14835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Penalty charges tracking</a:t>
            </a:r>
            <a:endParaRPr lang="en-US" sz="942" dirty="0"/>
          </a:p>
        </p:txBody>
      </p:sp>
      <p:sp>
        <p:nvSpPr>
          <p:cNvPr id="46" name="Shape 40"/>
          <p:cNvSpPr/>
          <p:nvPr/>
        </p:nvSpPr>
        <p:spPr>
          <a:xfrm>
            <a:off x="2431330" y="3162512"/>
            <a:ext cx="4079081" cy="15609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1"/>
          <p:cNvSpPr/>
          <p:nvPr/>
        </p:nvSpPr>
        <p:spPr>
          <a:xfrm>
            <a:off x="2424186" y="3162895"/>
            <a:ext cx="4079081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2"/>
          <p:cNvSpPr/>
          <p:nvPr/>
        </p:nvSpPr>
        <p:spPr>
          <a:xfrm>
            <a:off x="6510411" y="3161109"/>
            <a:ext cx="7144" cy="1560909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3"/>
          <p:cNvSpPr/>
          <p:nvPr/>
        </p:nvSpPr>
        <p:spPr>
          <a:xfrm>
            <a:off x="2445618" y="4708433"/>
            <a:ext cx="4079081" cy="7144"/>
          </a:xfrm>
          <a:prstGeom prst="rect">
            <a:avLst/>
          </a:prstGeom>
          <a:solidFill>
            <a:srgbClr val="E5E7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4"/>
          <p:cNvSpPr/>
          <p:nvPr/>
        </p:nvSpPr>
        <p:spPr>
          <a:xfrm>
            <a:off x="2417042" y="3153966"/>
            <a:ext cx="42863" cy="1560909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2644388" y="3301116"/>
            <a:ext cx="175022" cy="200025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2913645" y="3301116"/>
            <a:ext cx="167987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11111"/>
                </a:solidFill>
              </a:rPr>
              <a:t>Operational Impact</a:t>
            </a:r>
            <a:endParaRPr lang="en-US" sz="1193" dirty="0"/>
          </a:p>
        </p:txBody>
      </p:sp>
      <p:sp>
        <p:nvSpPr>
          <p:cNvPr id="53" name="Text 46"/>
          <p:cNvSpPr/>
          <p:nvPr/>
        </p:nvSpPr>
        <p:spPr>
          <a:xfrm>
            <a:off x="2600699" y="3731604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54" name="Text 47"/>
          <p:cNvSpPr/>
          <p:nvPr/>
        </p:nvSpPr>
        <p:spPr>
          <a:xfrm>
            <a:off x="2814372" y="3731604"/>
            <a:ext cx="173891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Authorization service latency</a:t>
            </a:r>
            <a:endParaRPr lang="en-US" sz="942" dirty="0"/>
          </a:p>
        </p:txBody>
      </p:sp>
      <p:sp>
        <p:nvSpPr>
          <p:cNvPr id="55" name="Text 48"/>
          <p:cNvSpPr/>
          <p:nvPr/>
        </p:nvSpPr>
        <p:spPr>
          <a:xfrm>
            <a:off x="2599547" y="3941563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56" name="Text 49"/>
          <p:cNvSpPr/>
          <p:nvPr/>
        </p:nvSpPr>
        <p:spPr>
          <a:xfrm>
            <a:off x="2814372" y="3941563"/>
            <a:ext cx="162933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False positive blocking rate</a:t>
            </a:r>
            <a:endParaRPr lang="en-US" sz="942" dirty="0"/>
          </a:p>
        </p:txBody>
      </p:sp>
      <p:sp>
        <p:nvSpPr>
          <p:cNvPr id="57" name="Text 50"/>
          <p:cNvSpPr/>
          <p:nvPr/>
        </p:nvSpPr>
        <p:spPr>
          <a:xfrm>
            <a:off x="2599547" y="4124114"/>
            <a:ext cx="12858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D1D5DB"/>
                </a:solidFill>
              </a:rPr>
              <a:t>—</a:t>
            </a:r>
            <a:endParaRPr lang="en-US" sz="885" dirty="0"/>
          </a:p>
        </p:txBody>
      </p:sp>
      <p:sp>
        <p:nvSpPr>
          <p:cNvPr id="58" name="Text 51"/>
          <p:cNvSpPr/>
          <p:nvPr/>
        </p:nvSpPr>
        <p:spPr>
          <a:xfrm>
            <a:off x="2814372" y="4138874"/>
            <a:ext cx="19515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444444"/>
                </a:solidFill>
              </a:rPr>
              <a:t>User experience friction analysis</a:t>
            </a:r>
            <a:endParaRPr lang="en-US" sz="942" dirty="0"/>
          </a:p>
        </p:txBody>
      </p:sp>
      <p:sp>
        <p:nvSpPr>
          <p:cNvPr id="59" name="Shape 52"/>
          <p:cNvSpPr/>
          <p:nvPr/>
        </p:nvSpPr>
        <p:spPr>
          <a:xfrm>
            <a:off x="4393406" y="2911077"/>
            <a:ext cx="342900" cy="342900"/>
          </a:xfrm>
          <a:prstGeom prst="ellipse">
            <a:avLst/>
          </a:prstGeom>
          <a:solidFill>
            <a:srgbClr val="FFFFFF"/>
          </a:solidFill>
          <a:ln w="18288">
            <a:solidFill>
              <a:srgbClr val="F3F4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0" name="Image 5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4500562" y="3012878"/>
            <a:ext cx="142875" cy="142875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12A2D0B3-C2AE-BE3C-7516-23E0309E0461}"/>
              </a:ext>
            </a:extLst>
          </p:cNvPr>
          <p:cNvSpPr txBox="1"/>
          <p:nvPr/>
        </p:nvSpPr>
        <p:spPr>
          <a:xfrm>
            <a:off x="8661197" y="4889584"/>
            <a:ext cx="5564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354782"/>
            <a:ext cx="8115300" cy="19050"/>
          </a:xfrm>
          <a:prstGeom prst="rect">
            <a:avLst/>
          </a:prstGeom>
          <a:solidFill>
            <a:srgbClr val="E8E8E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1545282"/>
            <a:ext cx="3943350" cy="3334717"/>
          </a:xfrm>
          <a:prstGeom prst="rect">
            <a:avLst/>
          </a:prstGeom>
          <a:solidFill>
            <a:srgbClr val="FFFFFF"/>
          </a:solidFill>
          <a:ln w="19050">
            <a:solidFill>
              <a:srgbClr val="ECECEC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86300" y="1545282"/>
            <a:ext cx="3733800" cy="3334717"/>
          </a:xfrm>
          <a:prstGeom prst="rect">
            <a:avLst/>
          </a:prstGeom>
          <a:solidFill>
            <a:srgbClr val="FFFFFF"/>
          </a:solidFill>
          <a:ln w="19050">
            <a:solidFill>
              <a:srgbClr val="ECECEC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976288"/>
              </p:ext>
            </p:extLst>
          </p:nvPr>
        </p:nvGraphicFramePr>
        <p:xfrm>
          <a:off x="4895850" y="2129730"/>
          <a:ext cx="3524250" cy="1990090"/>
        </p:xfrm>
        <a:graphic>
          <a:graphicData uri="http://schemas.openxmlformats.org/drawingml/2006/table">
            <a:tbl>
              <a:tblPr/>
              <a:tblGrid>
                <a:gridCol w="117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80-10-10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 valid, 10% overcap, 10% non-whitelist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valid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transactions valid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14350" y="400050"/>
            <a:ext cx="82776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83"/>
              </a:lnSpc>
              <a:buNone/>
            </a:pPr>
            <a:r>
              <a:rPr lang="en-US" sz="1425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Setup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514350" y="704850"/>
            <a:ext cx="8277606" cy="55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68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testing scenarios</a:t>
            </a:r>
            <a:endParaRPr lang="en-US" sz="2800" dirty="0"/>
          </a:p>
        </p:txBody>
      </p:sp>
      <p:sp>
        <p:nvSpPr>
          <p:cNvPr id="9" name="Text 5"/>
          <p:cNvSpPr/>
          <p:nvPr/>
        </p:nvSpPr>
        <p:spPr>
          <a:xfrm>
            <a:off x="723900" y="1735782"/>
            <a:ext cx="3594735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2"/>
              </a:lnSpc>
              <a:buNone/>
            </a:pPr>
            <a:r>
              <a:rPr lang="en-US" sz="2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Design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23900" y="2129730"/>
            <a:ext cx="3524250" cy="25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I ran end-to-end attack testing for both </a:t>
            </a:r>
            <a:r>
              <a:rPr lang="en-US" sz="1200" dirty="0">
                <a:solidFill>
                  <a:srgbClr val="333333"/>
                </a:solidFill>
                <a:ea typeface="Arial" pitchFamily="34" charset="-122"/>
                <a:cs typeface="Arial" pitchFamily="34" charset="-120"/>
              </a:rPr>
              <a:t>Baseline</a:t>
            </a:r>
            <a:r>
              <a:rPr lang="en-US" sz="12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 and </a:t>
            </a:r>
            <a:r>
              <a:rPr lang="en-US" sz="1200" dirty="0">
                <a:solidFill>
                  <a:srgbClr val="333333"/>
                </a:solidFill>
                <a:ea typeface="Arial" pitchFamily="34" charset="-122"/>
                <a:cs typeface="Arial" pitchFamily="34" charset="-120"/>
              </a:rPr>
              <a:t>Secured</a:t>
            </a:r>
            <a:r>
              <a:rPr lang="en-US" sz="12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 paymasters.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Two traffic mixes were tested: </a:t>
            </a:r>
            <a:r>
              <a:rPr lang="en-US" sz="1200" dirty="0">
                <a:solidFill>
                  <a:srgbClr val="333333"/>
                </a:solidFill>
                <a:ea typeface="Arial" pitchFamily="34" charset="-122"/>
                <a:cs typeface="Arial" pitchFamily="34" charset="-120"/>
              </a:rPr>
              <a:t>80% valid / 20% malicious</a:t>
            </a:r>
            <a:r>
              <a:rPr lang="en-US" sz="12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 and </a:t>
            </a:r>
            <a:r>
              <a:rPr lang="en-US" sz="1200" dirty="0">
                <a:solidFill>
                  <a:srgbClr val="333333"/>
                </a:solidFill>
                <a:ea typeface="Arial" pitchFamily="34" charset="-122"/>
                <a:cs typeface="Arial" pitchFamily="34" charset="-120"/>
              </a:rPr>
              <a:t>100% valid</a:t>
            </a:r>
            <a:r>
              <a:rPr lang="en-US" sz="12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ea typeface="Arial" pitchFamily="34" charset="-122"/>
                <a:cs typeface="Arial" pitchFamily="34" charset="-120"/>
              </a:rPr>
              <a:t>Metrics collected: sponsor drain, per-transaction cost, total execution time, latency, and success rate.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94385" y="3460107"/>
            <a:ext cx="3524250" cy="557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64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used: type, case, txn_hash, sponsor_drain_eth, txn_cost_eth, result, user_quota, dapp_quota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95850" y="1735782"/>
            <a:ext cx="3594735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2"/>
              </a:lnSpc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Cases</a:t>
            </a:r>
            <a:endParaRPr lang="en-US" sz="2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C84969-5D21-D60C-A5F7-0476FD1A44FA}"/>
              </a:ext>
            </a:extLst>
          </p:cNvPr>
          <p:cNvSpPr txBox="1"/>
          <p:nvPr/>
        </p:nvSpPr>
        <p:spPr>
          <a:xfrm>
            <a:off x="8661197" y="4889584"/>
            <a:ext cx="5683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0E344-52E2-36C4-8113-3E64205CE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9E3F196-B375-8732-4017-CFAA61C707A0}"/>
              </a:ext>
            </a:extLst>
          </p:cNvPr>
          <p:cNvSpPr/>
          <p:nvPr/>
        </p:nvSpPr>
        <p:spPr>
          <a:xfrm>
            <a:off x="514350" y="1354782"/>
            <a:ext cx="8115300" cy="19050"/>
          </a:xfrm>
          <a:prstGeom prst="rect">
            <a:avLst/>
          </a:prstGeom>
          <a:solidFill>
            <a:srgbClr val="E8E8E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E6EE5E2-EF85-2D0B-5DF2-46541D355228}"/>
              </a:ext>
            </a:extLst>
          </p:cNvPr>
          <p:cNvSpPr/>
          <p:nvPr/>
        </p:nvSpPr>
        <p:spPr>
          <a:xfrm>
            <a:off x="514350" y="400050"/>
            <a:ext cx="82776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83"/>
              </a:lnSpc>
              <a:buNone/>
            </a:pPr>
            <a:r>
              <a:rPr lang="en-US" sz="1425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Cost Analysis</a:t>
            </a:r>
            <a:endParaRPr lang="en-US" sz="1425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F6E8191-E686-12F0-C746-D17AE4B5C29E}"/>
              </a:ext>
            </a:extLst>
          </p:cNvPr>
          <p:cNvSpPr/>
          <p:nvPr/>
        </p:nvSpPr>
        <p:spPr>
          <a:xfrm>
            <a:off x="514350" y="704850"/>
            <a:ext cx="8277606" cy="55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68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Sponsor Drain</a:t>
            </a:r>
            <a:endParaRPr lang="en-US" sz="2800" dirty="0"/>
          </a:p>
        </p:txBody>
      </p:sp>
      <p:pic>
        <p:nvPicPr>
          <p:cNvPr id="13" name="Picture 12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0C07BF9E-AC2D-6F42-3CE8-A92DC9ACA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784" y="224986"/>
            <a:ext cx="4022058" cy="462323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27A0ED2-7FC5-54E9-32F3-E8C8C0E4C6C7}"/>
              </a:ext>
            </a:extLst>
          </p:cNvPr>
          <p:cNvSpPr txBox="1"/>
          <p:nvPr/>
        </p:nvSpPr>
        <p:spPr>
          <a:xfrm>
            <a:off x="514350" y="1469082"/>
            <a:ext cx="19218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Case 1: 80-10-10</a:t>
            </a:r>
          </a:p>
          <a:p>
            <a:endParaRPr lang="en-US" sz="1200" dirty="0"/>
          </a:p>
          <a:p>
            <a:r>
              <a:rPr lang="en-US" sz="1200" dirty="0"/>
              <a:t>Baseline Paymaster:</a:t>
            </a:r>
          </a:p>
          <a:p>
            <a:r>
              <a:rPr lang="en-US" sz="1200" dirty="0"/>
              <a:t>  Total drain: 0.010056 ETH</a:t>
            </a:r>
          </a:p>
          <a:p>
            <a:r>
              <a:rPr lang="en-US" sz="1200" dirty="0"/>
              <a:t>  Per-</a:t>
            </a:r>
            <a:r>
              <a:rPr lang="en-US" sz="1200" dirty="0" err="1"/>
              <a:t>txn</a:t>
            </a:r>
            <a:r>
              <a:rPr lang="en-US" sz="1200" dirty="0"/>
              <a:t> avg: 0.000101 ETH</a:t>
            </a:r>
          </a:p>
          <a:p>
            <a:endParaRPr lang="en-US" sz="1200" dirty="0"/>
          </a:p>
          <a:p>
            <a:r>
              <a:rPr lang="en-US" sz="1200" dirty="0"/>
              <a:t>Secured Paymaster:</a:t>
            </a:r>
          </a:p>
          <a:p>
            <a:r>
              <a:rPr lang="en-US" sz="1200" dirty="0"/>
              <a:t>  Total drain: 0.009541 ETH</a:t>
            </a:r>
          </a:p>
          <a:p>
            <a:r>
              <a:rPr lang="en-US" sz="1200" dirty="0"/>
              <a:t>  Per-</a:t>
            </a:r>
            <a:r>
              <a:rPr lang="en-US" sz="1200" dirty="0" err="1"/>
              <a:t>txn</a:t>
            </a:r>
            <a:r>
              <a:rPr lang="en-US" sz="1200" dirty="0"/>
              <a:t> avg: 0.000095 ETH</a:t>
            </a:r>
          </a:p>
          <a:p>
            <a:endParaRPr lang="en-US" sz="1200" dirty="0"/>
          </a:p>
          <a:p>
            <a:r>
              <a:rPr lang="en-US" sz="1200" dirty="0"/>
              <a:t>Comparison:</a:t>
            </a:r>
          </a:p>
          <a:p>
            <a:r>
              <a:rPr lang="en-US" sz="1200" dirty="0"/>
              <a:t>  Absolute savings: +0.000515 ETH</a:t>
            </a:r>
          </a:p>
          <a:p>
            <a:endParaRPr lang="en-US" sz="1200" dirty="0"/>
          </a:p>
          <a:p>
            <a:r>
              <a:rPr lang="en-US" sz="1200" b="1" dirty="0"/>
              <a:t>  Percentage savings: +5.1%</a:t>
            </a:r>
          </a:p>
          <a:p>
            <a:r>
              <a:rPr lang="en-US" sz="1200" b="1" dirty="0"/>
              <a:t>  Secured is CHEAPER ✓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B6C55D-51C7-9C90-50BF-4544BB70E8BD}"/>
              </a:ext>
            </a:extLst>
          </p:cNvPr>
          <p:cNvSpPr txBox="1"/>
          <p:nvPr/>
        </p:nvSpPr>
        <p:spPr>
          <a:xfrm>
            <a:off x="2436174" y="1469082"/>
            <a:ext cx="22794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Case 2: 100% valid</a:t>
            </a:r>
          </a:p>
          <a:p>
            <a:endParaRPr lang="en-US" sz="1200" dirty="0"/>
          </a:p>
          <a:p>
            <a:r>
              <a:rPr lang="en-US" sz="1200" dirty="0"/>
              <a:t>Baseline Paymaster:</a:t>
            </a:r>
          </a:p>
          <a:p>
            <a:r>
              <a:rPr lang="en-US" sz="1200" dirty="0"/>
              <a:t>  Total drain: 0.006905 ETH</a:t>
            </a:r>
          </a:p>
          <a:p>
            <a:r>
              <a:rPr lang="en-US" sz="1200" dirty="0"/>
              <a:t>  Per-</a:t>
            </a:r>
            <a:r>
              <a:rPr lang="en-US" sz="1200" dirty="0" err="1"/>
              <a:t>txn</a:t>
            </a:r>
            <a:r>
              <a:rPr lang="en-US" sz="1200" dirty="0"/>
              <a:t> avg: 0.000069 ETH</a:t>
            </a:r>
          </a:p>
          <a:p>
            <a:endParaRPr lang="en-US" sz="1200" dirty="0"/>
          </a:p>
          <a:p>
            <a:r>
              <a:rPr lang="en-US" sz="1200" dirty="0"/>
              <a:t>Secured Paymaster:</a:t>
            </a:r>
          </a:p>
          <a:p>
            <a:r>
              <a:rPr lang="en-US" sz="1200" dirty="0"/>
              <a:t>  Total drain: 0.011144 ETH</a:t>
            </a:r>
          </a:p>
          <a:p>
            <a:r>
              <a:rPr lang="en-US" sz="1200" dirty="0"/>
              <a:t>  Per-</a:t>
            </a:r>
            <a:r>
              <a:rPr lang="en-US" sz="1200" dirty="0" err="1"/>
              <a:t>txn</a:t>
            </a:r>
            <a:r>
              <a:rPr lang="en-US" sz="1200" dirty="0"/>
              <a:t> avg: 0.000111 ETH</a:t>
            </a:r>
          </a:p>
          <a:p>
            <a:endParaRPr lang="en-US" sz="1200" dirty="0"/>
          </a:p>
          <a:p>
            <a:r>
              <a:rPr lang="en-US" sz="1200" dirty="0"/>
              <a:t>Comparison:</a:t>
            </a:r>
          </a:p>
          <a:p>
            <a:r>
              <a:rPr lang="en-US" sz="1200" dirty="0"/>
              <a:t>  Cost difference: -0.004239 ETH</a:t>
            </a:r>
          </a:p>
          <a:p>
            <a:r>
              <a:rPr lang="en-US" sz="1200" dirty="0"/>
              <a:t>  </a:t>
            </a:r>
          </a:p>
          <a:p>
            <a:r>
              <a:rPr lang="en-US" sz="1200" dirty="0"/>
              <a:t>Percentage difference: -61.4%</a:t>
            </a:r>
          </a:p>
          <a:p>
            <a:r>
              <a:rPr lang="en-US" sz="1200" dirty="0"/>
              <a:t>  </a:t>
            </a:r>
            <a:r>
              <a:rPr lang="en-US" sz="1200" b="1" dirty="0"/>
              <a:t>Per-</a:t>
            </a:r>
            <a:r>
              <a:rPr lang="en-US" sz="1200" b="1" dirty="0" err="1"/>
              <a:t>txn</a:t>
            </a:r>
            <a:r>
              <a:rPr lang="en-US" sz="1200" b="1" dirty="0"/>
              <a:t> overhead: +61.4%</a:t>
            </a:r>
          </a:p>
          <a:p>
            <a:r>
              <a:rPr lang="en-US" sz="1200" b="1" dirty="0"/>
              <a:t>  Secured is MORE EXPENSIVE ✗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49ABEC-3BD6-65F6-B2CB-F00164E85844}"/>
              </a:ext>
            </a:extLst>
          </p:cNvPr>
          <p:cNvSpPr txBox="1"/>
          <p:nvPr/>
        </p:nvSpPr>
        <p:spPr>
          <a:xfrm>
            <a:off x="8661197" y="4889584"/>
            <a:ext cx="5683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12/17</a:t>
            </a:r>
          </a:p>
        </p:txBody>
      </p:sp>
    </p:spTree>
    <p:extLst>
      <p:ext uri="{BB962C8B-B14F-4D97-AF65-F5344CB8AC3E}">
        <p14:creationId xmlns:p14="http://schemas.microsoft.com/office/powerpoint/2010/main" val="537844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232A0-482E-17DB-2DDC-F44E3677C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851899-8665-591E-0655-2E99EF270D27}"/>
              </a:ext>
            </a:extLst>
          </p:cNvPr>
          <p:cNvSpPr/>
          <p:nvPr/>
        </p:nvSpPr>
        <p:spPr>
          <a:xfrm>
            <a:off x="514350" y="1354782"/>
            <a:ext cx="8115300" cy="19050"/>
          </a:xfrm>
          <a:prstGeom prst="rect">
            <a:avLst/>
          </a:prstGeom>
          <a:solidFill>
            <a:srgbClr val="E8E8E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987CF61A-ECC3-2494-94E9-0E53B2DA9B31}"/>
              </a:ext>
            </a:extLst>
          </p:cNvPr>
          <p:cNvSpPr/>
          <p:nvPr/>
        </p:nvSpPr>
        <p:spPr>
          <a:xfrm>
            <a:off x="514350" y="400050"/>
            <a:ext cx="82776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83"/>
              </a:lnSpc>
              <a:buNone/>
            </a:pPr>
            <a:r>
              <a:rPr lang="en-US" sz="1425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Cost Analysis</a:t>
            </a:r>
            <a:endParaRPr lang="en-US" sz="1425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964C973-80DA-1496-5E3B-F01254F3ED6F}"/>
              </a:ext>
            </a:extLst>
          </p:cNvPr>
          <p:cNvSpPr/>
          <p:nvPr/>
        </p:nvSpPr>
        <p:spPr>
          <a:xfrm>
            <a:off x="514350" y="704850"/>
            <a:ext cx="8277606" cy="55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68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By Scenario Type</a:t>
            </a:r>
            <a:endParaRPr lang="en-US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39A7D2-90E1-8E47-5536-7B8D2042A485}"/>
              </a:ext>
            </a:extLst>
          </p:cNvPr>
          <p:cNvSpPr txBox="1"/>
          <p:nvPr/>
        </p:nvSpPr>
        <p:spPr>
          <a:xfrm>
            <a:off x="514351" y="1469082"/>
            <a:ext cx="2421354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Per-Scenario Breakdown (80-10-10):</a:t>
            </a:r>
          </a:p>
          <a:p>
            <a:endParaRPr lang="en-US" sz="1100" dirty="0"/>
          </a:p>
          <a:p>
            <a:r>
              <a:rPr lang="en-US" sz="1100" dirty="0"/>
              <a:t>VALID:</a:t>
            </a:r>
          </a:p>
          <a:p>
            <a:r>
              <a:rPr lang="en-US" sz="1100" dirty="0"/>
              <a:t>    Baseline avg: 0.000077 ETH (80 </a:t>
            </a:r>
            <a:r>
              <a:rPr lang="en-US" sz="1100" dirty="0" err="1"/>
              <a:t>txns</a:t>
            </a:r>
            <a:r>
              <a:rPr lang="en-US" sz="1100" dirty="0"/>
              <a:t>)</a:t>
            </a:r>
          </a:p>
          <a:p>
            <a:r>
              <a:rPr lang="en-US" sz="1100" dirty="0"/>
              <a:t>    Secured avg:  0.000119 ETH (80 </a:t>
            </a:r>
            <a:r>
              <a:rPr lang="en-US" sz="1100" dirty="0" err="1"/>
              <a:t>txns</a:t>
            </a:r>
            <a:r>
              <a:rPr lang="en-US" sz="1100" dirty="0"/>
              <a:t>)</a:t>
            </a:r>
          </a:p>
          <a:p>
            <a:r>
              <a:rPr lang="en-US" sz="1100" dirty="0"/>
              <a:t>    </a:t>
            </a:r>
          </a:p>
          <a:p>
            <a:r>
              <a:rPr lang="en-US" sz="1100" dirty="0"/>
              <a:t>OVERCAP:</a:t>
            </a:r>
          </a:p>
          <a:p>
            <a:r>
              <a:rPr lang="en-US" sz="1100" dirty="0"/>
              <a:t>    Baseline avg: 0.000312 ETH (10 </a:t>
            </a:r>
            <a:r>
              <a:rPr lang="en-US" sz="1100" dirty="0" err="1"/>
              <a:t>txns</a:t>
            </a:r>
            <a:r>
              <a:rPr lang="en-US" sz="1100" dirty="0"/>
              <a:t>)</a:t>
            </a:r>
          </a:p>
          <a:p>
            <a:r>
              <a:rPr lang="en-US" sz="1100" dirty="0"/>
              <a:t>    Secured avg:  0.0 ETH (10 </a:t>
            </a:r>
            <a:r>
              <a:rPr lang="en-US" sz="1100" dirty="0" err="1"/>
              <a:t>txns</a:t>
            </a:r>
            <a:r>
              <a:rPr lang="en-US" sz="1100" dirty="0"/>
              <a:t>)</a:t>
            </a:r>
          </a:p>
          <a:p>
            <a:r>
              <a:rPr lang="en-US" sz="1100" dirty="0"/>
              <a:t>    </a:t>
            </a:r>
          </a:p>
          <a:p>
            <a:r>
              <a:rPr lang="en-US" sz="1100" dirty="0"/>
              <a:t>NON-WHITELIST:</a:t>
            </a:r>
          </a:p>
          <a:p>
            <a:r>
              <a:rPr lang="en-US" sz="1100" dirty="0"/>
              <a:t>    Baseline avg: 0.000075 ETH (10 </a:t>
            </a:r>
            <a:r>
              <a:rPr lang="en-US" sz="1100" dirty="0" err="1"/>
              <a:t>txns</a:t>
            </a:r>
            <a:r>
              <a:rPr lang="en-US" sz="1100" dirty="0"/>
              <a:t>)</a:t>
            </a:r>
          </a:p>
          <a:p>
            <a:r>
              <a:rPr lang="en-US" sz="1100" dirty="0"/>
              <a:t>    Secured avg:  0.0 ETH (10 </a:t>
            </a:r>
            <a:r>
              <a:rPr lang="en-US" sz="1100" dirty="0" err="1"/>
              <a:t>txns</a:t>
            </a:r>
            <a:r>
              <a:rPr lang="en-US" sz="1100" dirty="0"/>
              <a:t>)</a:t>
            </a:r>
          </a:p>
        </p:txBody>
      </p:sp>
      <p:pic>
        <p:nvPicPr>
          <p:cNvPr id="4" name="Picture 3" descr="A graph of a bar chart&#10;&#10;AI-generated content may be incorrect.">
            <a:extLst>
              <a:ext uri="{FF2B5EF4-FFF2-40B4-BE49-F238E27FC236}">
                <a16:creationId xmlns:a16="http://schemas.microsoft.com/office/drawing/2014/main" id="{3FA0E112-0245-2E6F-F706-1DCA70E6C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547" y="1373832"/>
            <a:ext cx="2821406" cy="30984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B1FC10-9B5D-3196-CAB3-276DD2895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740" y="1373832"/>
            <a:ext cx="3046831" cy="30076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244E0B-8DE0-348F-24D0-9CF400DC5068}"/>
              </a:ext>
            </a:extLst>
          </p:cNvPr>
          <p:cNvSpPr txBox="1"/>
          <p:nvPr/>
        </p:nvSpPr>
        <p:spPr>
          <a:xfrm>
            <a:off x="8661197" y="4889584"/>
            <a:ext cx="5683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13/17</a:t>
            </a:r>
          </a:p>
        </p:txBody>
      </p:sp>
    </p:spTree>
    <p:extLst>
      <p:ext uri="{BB962C8B-B14F-4D97-AF65-F5344CB8AC3E}">
        <p14:creationId xmlns:p14="http://schemas.microsoft.com/office/powerpoint/2010/main" val="25018221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19AC0-CFD2-747A-5DC1-20C944EB5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6FDDB0-ED3F-7CFA-A06D-569B9DAF284B}"/>
              </a:ext>
            </a:extLst>
          </p:cNvPr>
          <p:cNvSpPr/>
          <p:nvPr/>
        </p:nvSpPr>
        <p:spPr>
          <a:xfrm>
            <a:off x="514350" y="1354782"/>
            <a:ext cx="8115300" cy="19050"/>
          </a:xfrm>
          <a:prstGeom prst="rect">
            <a:avLst/>
          </a:prstGeom>
          <a:solidFill>
            <a:srgbClr val="E8E8E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2B3B590-18F6-089A-94AB-1C5D372F829C}"/>
              </a:ext>
            </a:extLst>
          </p:cNvPr>
          <p:cNvSpPr/>
          <p:nvPr/>
        </p:nvSpPr>
        <p:spPr>
          <a:xfrm>
            <a:off x="514350" y="400050"/>
            <a:ext cx="82776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83"/>
              </a:lnSpc>
              <a:buNone/>
            </a:pPr>
            <a:r>
              <a:rPr lang="en-US" sz="1425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Speed and Performance Analysis</a:t>
            </a:r>
            <a:endParaRPr lang="en-US" sz="1425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8345397-22D8-3BF3-CBED-50AB4ED9B393}"/>
              </a:ext>
            </a:extLst>
          </p:cNvPr>
          <p:cNvSpPr/>
          <p:nvPr/>
        </p:nvSpPr>
        <p:spPr>
          <a:xfrm>
            <a:off x="514350" y="704850"/>
            <a:ext cx="8277606" cy="554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68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Time</a:t>
            </a:r>
            <a:endParaRPr lang="en-US" sz="2800" dirty="0"/>
          </a:p>
        </p:txBody>
      </p:sp>
      <p:pic>
        <p:nvPicPr>
          <p:cNvPr id="5" name="Picture 4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FD302D79-26F8-00D3-45A4-A10348D36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874" y="152149"/>
            <a:ext cx="4134327" cy="46359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4C8A94-F07F-EBD1-A43B-1AC450A247DA}"/>
              </a:ext>
            </a:extLst>
          </p:cNvPr>
          <p:cNvSpPr txBox="1"/>
          <p:nvPr/>
        </p:nvSpPr>
        <p:spPr>
          <a:xfrm>
            <a:off x="514350" y="1469082"/>
            <a:ext cx="212658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Case 1: 80-10-10</a:t>
            </a:r>
          </a:p>
          <a:p>
            <a:endParaRPr lang="en-US" sz="1200" dirty="0"/>
          </a:p>
          <a:p>
            <a:r>
              <a:rPr lang="en-US" sz="1200" dirty="0"/>
              <a:t> Per-Transaction time:</a:t>
            </a:r>
          </a:p>
          <a:p>
            <a:r>
              <a:rPr lang="en-US" sz="1200" dirty="0"/>
              <a:t>   • Baseline: 15.73ms per </a:t>
            </a:r>
            <a:r>
              <a:rPr lang="en-US" sz="1200" dirty="0" err="1"/>
              <a:t>txn</a:t>
            </a:r>
            <a:endParaRPr lang="en-US" sz="1200" dirty="0"/>
          </a:p>
          <a:p>
            <a:r>
              <a:rPr lang="en-US" sz="1200" dirty="0"/>
              <a:t>   • Secured:  13.53ms per </a:t>
            </a:r>
            <a:r>
              <a:rPr lang="en-US" sz="1200" dirty="0" err="1"/>
              <a:t>txn</a:t>
            </a:r>
            <a:endParaRPr lang="en-US" sz="1200" dirty="0"/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Speed Improvement: 14.0%</a:t>
            </a:r>
          </a:p>
          <a:p>
            <a:endParaRPr lang="en-US" sz="1200" b="1" dirty="0"/>
          </a:p>
          <a:p>
            <a:r>
              <a:rPr lang="en-US" sz="1200" b="1" dirty="0"/>
              <a:t>WHY SECURED IS FASTER?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Secured executes 80% of </a:t>
            </a:r>
            <a:r>
              <a:rPr lang="en-US" sz="1200" dirty="0" err="1"/>
              <a:t>txns</a:t>
            </a:r>
            <a:r>
              <a:rPr lang="en-US" sz="1200" dirty="0"/>
              <a:t> successfully while Baseline executes 100% of </a:t>
            </a:r>
            <a:r>
              <a:rPr lang="en-US" sz="1200" dirty="0" err="1"/>
              <a:t>txns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Even though validation adds overhead, fail-fast rejection of malicious </a:t>
            </a:r>
            <a:r>
              <a:rPr lang="en-US" sz="1200" dirty="0" err="1"/>
              <a:t>txns</a:t>
            </a:r>
            <a:r>
              <a:rPr lang="en-US" sz="1200" dirty="0"/>
              <a:t> makes secured faster overall.</a:t>
            </a:r>
            <a:endParaRPr lang="en-US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75342A-AFEE-BBE4-E683-27189F57147D}"/>
              </a:ext>
            </a:extLst>
          </p:cNvPr>
          <p:cNvSpPr txBox="1"/>
          <p:nvPr/>
        </p:nvSpPr>
        <p:spPr>
          <a:xfrm>
            <a:off x="2640932" y="1469082"/>
            <a:ext cx="21859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Case 2: 100% valid</a:t>
            </a:r>
          </a:p>
          <a:p>
            <a:endParaRPr lang="en-US" sz="1200" dirty="0"/>
          </a:p>
          <a:p>
            <a:r>
              <a:rPr lang="en-US" sz="1200" dirty="0"/>
              <a:t>Per-Transaction time:</a:t>
            </a:r>
          </a:p>
          <a:p>
            <a:r>
              <a:rPr lang="en-US" sz="1200" dirty="0"/>
              <a:t>   • Baseline: 13.20ms per </a:t>
            </a:r>
            <a:r>
              <a:rPr lang="en-US" sz="1200" dirty="0" err="1"/>
              <a:t>txn</a:t>
            </a:r>
            <a:endParaRPr lang="en-US" sz="1200" dirty="0"/>
          </a:p>
          <a:p>
            <a:r>
              <a:rPr lang="en-US" sz="1200" dirty="0"/>
              <a:t>   • Secured:  14.64ms per </a:t>
            </a:r>
            <a:r>
              <a:rPr lang="en-US" sz="1200" dirty="0" err="1"/>
              <a:t>txn</a:t>
            </a:r>
            <a:endParaRPr lang="en-US" sz="1200" dirty="0"/>
          </a:p>
          <a:p>
            <a:r>
              <a:rPr lang="en-US" sz="1200" dirty="0"/>
              <a:t>   </a:t>
            </a:r>
          </a:p>
          <a:p>
            <a:r>
              <a:rPr lang="en-US" sz="1200" dirty="0"/>
              <a:t>Speed Penalty: 10.9% SLOWER</a:t>
            </a:r>
          </a:p>
          <a:p>
            <a:r>
              <a:rPr lang="en-US" sz="1200" dirty="0"/>
              <a:t>   </a:t>
            </a:r>
          </a:p>
          <a:p>
            <a:r>
              <a:rPr lang="en-US" sz="1200" b="1" dirty="0"/>
              <a:t>WHY SECURED IS SLOWER?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Validation adds latency to every </a:t>
            </a:r>
            <a:r>
              <a:rPr lang="en-US" sz="1200" dirty="0" err="1"/>
              <a:t>txn</a:t>
            </a:r>
            <a:r>
              <a:rPr lang="en-US" sz="12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malicious </a:t>
            </a:r>
            <a:r>
              <a:rPr lang="en-US" sz="1200" dirty="0" err="1"/>
              <a:t>txns</a:t>
            </a:r>
            <a:r>
              <a:rPr lang="en-US" sz="1200" dirty="0"/>
              <a:t> to fast-reject.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Full cost with no benefit</a:t>
            </a:r>
            <a:endParaRPr lang="en-US" sz="1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B8BF13-B94E-E389-FA19-6C37958AEF1A}"/>
              </a:ext>
            </a:extLst>
          </p:cNvPr>
          <p:cNvSpPr txBox="1"/>
          <p:nvPr/>
        </p:nvSpPr>
        <p:spPr>
          <a:xfrm>
            <a:off x="8661197" y="4889584"/>
            <a:ext cx="5683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14/17</a:t>
            </a:r>
          </a:p>
        </p:txBody>
      </p:sp>
    </p:spTree>
    <p:extLst>
      <p:ext uri="{BB962C8B-B14F-4D97-AF65-F5344CB8AC3E}">
        <p14:creationId xmlns:p14="http://schemas.microsoft.com/office/powerpoint/2010/main" val="4065526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2714" y="1268147"/>
            <a:ext cx="8115300" cy="19050"/>
          </a:xfrm>
          <a:prstGeom prst="rect">
            <a:avLst/>
          </a:prstGeom>
          <a:solidFill>
            <a:srgbClr val="E8E8E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2587" y="1382446"/>
            <a:ext cx="3804285" cy="3361003"/>
          </a:xfrm>
          <a:prstGeom prst="rect">
            <a:avLst/>
          </a:prstGeom>
          <a:solidFill>
            <a:srgbClr val="FFFFFF"/>
          </a:solidFill>
          <a:ln w="19050">
            <a:solidFill>
              <a:srgbClr val="ECECEC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1382447"/>
            <a:ext cx="3943350" cy="3222873"/>
          </a:xfrm>
          <a:prstGeom prst="rect">
            <a:avLst/>
          </a:prstGeom>
          <a:solidFill>
            <a:srgbClr val="FFFFFF"/>
          </a:solidFill>
          <a:ln w="19050">
            <a:solidFill>
              <a:srgbClr val="ECECEC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71499"/>
              </p:ext>
            </p:extLst>
          </p:nvPr>
        </p:nvGraphicFramePr>
        <p:xfrm>
          <a:off x="4895850" y="1966895"/>
          <a:ext cx="3524250" cy="2447925"/>
        </p:xfrm>
        <a:graphic>
          <a:graphicData uri="http://schemas.openxmlformats.org/drawingml/2006/table">
            <a:tbl>
              <a:tblPr/>
              <a:tblGrid>
                <a:gridCol w="117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5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Malicious traffic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winner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 winner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5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0–10%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5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11–17%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Mixed / monitor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Secured starts helping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5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18–30%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58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&gt;30%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Secured strongly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Secured strongly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14350" y="400050"/>
            <a:ext cx="82776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83"/>
              </a:lnSpc>
              <a:buNone/>
            </a:pPr>
            <a:r>
              <a:rPr lang="en-US" sz="1425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ROI</a:t>
            </a:r>
            <a:endParaRPr lang="en-US" sz="1425" dirty="0"/>
          </a:p>
        </p:txBody>
      </p:sp>
      <p:sp>
        <p:nvSpPr>
          <p:cNvPr id="9" name="Text 5"/>
          <p:cNvSpPr/>
          <p:nvPr/>
        </p:nvSpPr>
        <p:spPr>
          <a:xfrm>
            <a:off x="514350" y="704850"/>
            <a:ext cx="8115300" cy="506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68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secure become worth the cost?</a:t>
            </a:r>
            <a:endParaRPr lang="en-US" sz="2800" dirty="0"/>
          </a:p>
        </p:txBody>
      </p:sp>
      <p:sp>
        <p:nvSpPr>
          <p:cNvPr id="10" name="Text 6"/>
          <p:cNvSpPr/>
          <p:nvPr/>
        </p:nvSpPr>
        <p:spPr>
          <a:xfrm>
            <a:off x="723900" y="1572947"/>
            <a:ext cx="3594735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2"/>
              </a:lnSpc>
              <a:buNone/>
            </a:pPr>
            <a: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point</a:t>
            </a:r>
            <a:endParaRPr lang="en-US" dirty="0"/>
          </a:p>
        </p:txBody>
      </p:sp>
      <p:sp>
        <p:nvSpPr>
          <p:cNvPr id="7" name="Text 7"/>
          <p:cNvSpPr/>
          <p:nvPr/>
        </p:nvSpPr>
        <p:spPr>
          <a:xfrm>
            <a:off x="723900" y="2043095"/>
            <a:ext cx="3524250" cy="1228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8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overhead per valid txn: </a:t>
            </a: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0.000042 ETH</a:t>
            </a:r>
            <a:endParaRPr lang="en-US" sz="1350" dirty="0"/>
          </a:p>
          <a:p>
            <a:pPr marL="0" indent="0">
              <a:lnSpc>
                <a:spcPts val="1688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valid txn cost: </a:t>
            </a: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0.000077 ETH</a:t>
            </a:r>
            <a:endParaRPr lang="en-US" sz="1350" dirty="0"/>
          </a:p>
          <a:p>
            <a:pPr marL="0" indent="0">
              <a:lnSpc>
                <a:spcPts val="1688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malicious txn cost: </a:t>
            </a: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0.000193 ETH</a:t>
            </a:r>
            <a:endParaRPr lang="en-US" sz="1350" dirty="0"/>
          </a:p>
          <a:p>
            <a:pPr marL="0" indent="0">
              <a:lnSpc>
                <a:spcPts val="1688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Secured malicious txn cost: </a:t>
            </a: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0.000000 ETH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731026" y="3366120"/>
            <a:ext cx="3524250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8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 malicious traffic:</a:t>
            </a: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17.87%</a:t>
            </a:r>
          </a:p>
          <a:p>
            <a:pPr marL="0" indent="0">
              <a:lnSpc>
                <a:spcPts val="1688"/>
              </a:lnSpc>
              <a:buNone/>
            </a:pPr>
            <a:endParaRPr lang="en-US" sz="2400" b="1" dirty="0">
              <a:solidFill>
                <a:srgbClr val="111111"/>
              </a:solidFill>
              <a:latin typeface="Arial" pitchFamily="34" charset="0"/>
              <a:cs typeface="Arial" pitchFamily="34" charset="-120"/>
            </a:endParaRPr>
          </a:p>
          <a:p>
            <a:pPr>
              <a:lnSpc>
                <a:spcPts val="1688"/>
              </a:lnSpc>
            </a:pPr>
            <a:r>
              <a:rPr lang="en-US" sz="1350" dirty="0" err="1"/>
              <a:t>breakeven_pct</a:t>
            </a:r>
            <a:r>
              <a:rPr lang="en-US" sz="1350" dirty="0"/>
              <a:t> = (</a:t>
            </a:r>
            <a:r>
              <a:rPr lang="en-US" sz="1350" dirty="0" err="1"/>
              <a:t>validation_overhead</a:t>
            </a:r>
            <a:r>
              <a:rPr lang="en-US" sz="1350" dirty="0"/>
              <a:t> / (</a:t>
            </a:r>
            <a:r>
              <a:rPr lang="en-US" sz="1350" dirty="0" err="1"/>
              <a:t>avg_malicious_baseline_cost</a:t>
            </a:r>
            <a:r>
              <a:rPr lang="en-US" sz="1350" dirty="0"/>
              <a:t> + </a:t>
            </a:r>
            <a:r>
              <a:rPr lang="en-US" sz="1350" dirty="0" err="1"/>
              <a:t>validation_overhead</a:t>
            </a:r>
            <a:r>
              <a:rPr lang="en-US" sz="1350" dirty="0"/>
              <a:t>)) * 100</a:t>
            </a:r>
          </a:p>
        </p:txBody>
      </p:sp>
      <p:sp>
        <p:nvSpPr>
          <p:cNvPr id="15" name="Text 11"/>
          <p:cNvSpPr/>
          <p:nvPr/>
        </p:nvSpPr>
        <p:spPr>
          <a:xfrm>
            <a:off x="4895850" y="1572947"/>
            <a:ext cx="3594735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2"/>
              </a:lnSpc>
              <a:buNone/>
            </a:pPr>
            <a:r>
              <a:rPr lang="en-US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matrix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2150BA-7FCB-6644-5852-6435D8EAC9D6}"/>
              </a:ext>
            </a:extLst>
          </p:cNvPr>
          <p:cNvSpPr txBox="1"/>
          <p:nvPr/>
        </p:nvSpPr>
        <p:spPr>
          <a:xfrm>
            <a:off x="8661197" y="4889584"/>
            <a:ext cx="5683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1433215"/>
            <a:ext cx="8115300" cy="19050"/>
          </a:xfrm>
          <a:prstGeom prst="rect">
            <a:avLst/>
          </a:prstGeom>
          <a:solidFill>
            <a:srgbClr val="E8E8E8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1577825"/>
            <a:ext cx="3943350" cy="3078807"/>
          </a:xfrm>
          <a:prstGeom prst="rect">
            <a:avLst/>
          </a:prstGeom>
          <a:solidFill>
            <a:srgbClr val="EAF8EE"/>
          </a:solidFill>
          <a:ln w="19050">
            <a:solidFill>
              <a:srgbClr val="BFE6CA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53153" y="1592432"/>
            <a:ext cx="3943350" cy="3078807"/>
          </a:xfrm>
          <a:prstGeom prst="rect">
            <a:avLst/>
          </a:prstGeom>
          <a:solidFill>
            <a:srgbClr val="FFF5F5"/>
          </a:solidFill>
          <a:ln w="19050">
            <a:solidFill>
              <a:srgbClr val="F1C6C6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400050"/>
            <a:ext cx="82776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83"/>
              </a:lnSpc>
              <a:buNone/>
            </a:pPr>
            <a:r>
              <a:rPr lang="en-US" sz="1425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14350" y="704850"/>
            <a:ext cx="8115300" cy="637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368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recommendation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23900" y="1823144"/>
            <a:ext cx="3594735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2"/>
              </a:lnSpc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when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3415" y="2237307"/>
            <a:ext cx="3524250" cy="2303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malicious traffic is at or above the 18% break-even point.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Gas-cap, whitelist, and quota enforcement are required for sponsor safety.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Blocking malicious calls is more important than minimizing validation overhead.</a:t>
            </a:r>
          </a:p>
          <a:p>
            <a:pPr marL="342900" indent="-342900">
              <a:buSzPct val="100000"/>
              <a:buChar char="•"/>
            </a:pPr>
            <a:endParaRPr lang="en-US" sz="1200" dirty="0">
              <a:solidFill>
                <a:srgbClr val="111111"/>
              </a:solidFill>
              <a:latin typeface="Arial" pitchFamily="34" charset="0"/>
              <a:cs typeface="Arial" pitchFamily="34" charset="-120"/>
            </a:endParaRPr>
          </a:p>
          <a:p>
            <a:pPr>
              <a:buSzPct val="100000"/>
            </a:pPr>
            <a:r>
              <a:rPr lang="en-US" sz="1200" dirty="0"/>
              <a:t>📊 ROI CALCULATION: Assuming 100k </a:t>
            </a:r>
            <a:r>
              <a:rPr lang="en-US" sz="1200" dirty="0" err="1"/>
              <a:t>txns</a:t>
            </a:r>
            <a:r>
              <a:rPr lang="en-US" sz="1200" dirty="0"/>
              <a:t>/month at a savings rate of 0.0008 ETH per 100 </a:t>
            </a:r>
            <a:r>
              <a:rPr lang="en-US" sz="1200" dirty="0" err="1"/>
              <a:t>txns</a:t>
            </a:r>
            <a:r>
              <a:rPr lang="en-US" sz="1200" dirty="0"/>
              <a:t> (20% malicious traffic), saves you:</a:t>
            </a:r>
          </a:p>
          <a:p>
            <a:pPr>
              <a:buSzPct val="100000"/>
            </a:pPr>
            <a:r>
              <a:rPr lang="en-US" sz="1200" dirty="0"/>
              <a:t>0.8 ETH/month which is equivalent to $1600/month</a:t>
            </a:r>
          </a:p>
          <a:p>
            <a:pPr>
              <a:buSzPct val="100000"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64656" y="1823144"/>
            <a:ext cx="3594735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52"/>
              </a:lnSpc>
              <a:buNone/>
            </a:pPr>
            <a:r>
              <a:rPr lang="en-US" sz="2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862703" y="2237306"/>
            <a:ext cx="3524250" cy="2303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use the secured path blindly in extremely clean traffic conditions.</a:t>
            </a: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attack rate regularly and revisit the break-even point as traffic changes.</a:t>
            </a: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hybrid deployment can route known-good users to baseline and risky traffic to secured.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BA5EF7-0FEC-C627-7EF2-843382E0340F}"/>
              </a:ext>
            </a:extLst>
          </p:cNvPr>
          <p:cNvSpPr txBox="1"/>
          <p:nvPr/>
        </p:nvSpPr>
        <p:spPr>
          <a:xfrm>
            <a:off x="8661197" y="4889584"/>
            <a:ext cx="56832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133553" y="1526977"/>
            <a:ext cx="4876893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6800"/>
              </a:lnSpc>
              <a:buNone/>
            </a:pPr>
            <a:r>
              <a:rPr lang="en-US" sz="6218" b="1" kern="0" spc="-3" dirty="0">
                <a:solidFill>
                  <a:srgbClr val="111111"/>
                </a:solidFill>
              </a:rPr>
              <a:t>THANK YOU</a:t>
            </a:r>
            <a:endParaRPr lang="en-US" sz="6218" dirty="0"/>
          </a:p>
        </p:txBody>
      </p:sp>
      <p:sp>
        <p:nvSpPr>
          <p:cNvPr id="4" name="Text 1"/>
          <p:cNvSpPr/>
          <p:nvPr/>
        </p:nvSpPr>
        <p:spPr>
          <a:xfrm>
            <a:off x="3813299" y="2527102"/>
            <a:ext cx="1517403" cy="3955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592" kern="0" spc="2" dirty="0">
                <a:solidFill>
                  <a:srgbClr val="6366F1"/>
                </a:solidFill>
              </a:rPr>
              <a:t>Questions?</a:t>
            </a:r>
            <a:endParaRPr lang="en-US" sz="2592" dirty="0"/>
          </a:p>
        </p:txBody>
      </p:sp>
      <p:sp>
        <p:nvSpPr>
          <p:cNvPr id="9" name="Shape 4"/>
          <p:cNvSpPr/>
          <p:nvPr/>
        </p:nvSpPr>
        <p:spPr>
          <a:xfrm>
            <a:off x="571500" y="4572000"/>
            <a:ext cx="8001000" cy="286603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571500" y="4647009"/>
            <a:ext cx="1455463" cy="1096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888888"/>
                </a:solidFill>
              </a:rPr>
              <a:t>Securing ERC-4337 Paymasters Proposal</a:t>
            </a:r>
            <a:endParaRPr lang="en-US" sz="683" dirty="0"/>
          </a:p>
        </p:txBody>
      </p:sp>
      <p:sp>
        <p:nvSpPr>
          <p:cNvPr id="11" name="Text 6"/>
          <p:cNvSpPr/>
          <p:nvPr/>
        </p:nvSpPr>
        <p:spPr>
          <a:xfrm>
            <a:off x="7708609" y="4647009"/>
            <a:ext cx="371577" cy="1097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366F1"/>
                </a:solidFill>
              </a:rPr>
              <a:t>April 2026</a:t>
            </a:r>
            <a:endParaRPr lang="en-US" sz="683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739A9C-76B5-D610-3073-8DC74C4BF379}"/>
              </a:ext>
            </a:extLst>
          </p:cNvPr>
          <p:cNvSpPr txBox="1"/>
          <p:nvPr/>
        </p:nvSpPr>
        <p:spPr>
          <a:xfrm>
            <a:off x="8661197" y="4889584"/>
            <a:ext cx="55646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A5B5FD"/>
                </a:solidFill>
              </a:rP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1842</TotalTime>
  <Words>1236</Words>
  <Application>Microsoft Macintosh PowerPoint</Application>
  <PresentationFormat>On-screen Show (16:9)</PresentationFormat>
  <Paragraphs>274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Rahul Ankola</cp:lastModifiedBy>
  <cp:revision>16</cp:revision>
  <dcterms:created xsi:type="dcterms:W3CDTF">2026-02-11T15:47:10Z</dcterms:created>
  <dcterms:modified xsi:type="dcterms:W3CDTF">2026-04-28T00:48:17Z</dcterms:modified>
</cp:coreProperties>
</file>